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5" Type="http://schemas.openxmlformats.org/officeDocument/2006/relationships/slide" Target="slides/slide5.xml" /><Relationship Id="rId14" Type="http://schemas.openxmlformats.org/officeDocument/2006/relationships/slide" Target="slides/slide14.xml" /><Relationship Id="rId1" Type="http://schemas.openxmlformats.org/officeDocument/2006/relationships/slide" Target="slides/slide1.xml" /><Relationship Id="rId15" Type="http://schemas.openxmlformats.org/officeDocument/2006/relationships/slide" Target="slides/slide15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7" Type="http://schemas.openxmlformats.org/officeDocument/2006/relationships/slide" Target="slides/slide7.xml" /><Relationship Id="rId16" Type="http://schemas.openxmlformats.org/officeDocument/2006/relationships/slide" Target="slides/slide16.xml" 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slideLayout" Target="../slideLayouts/slideLayout2.xml" /><Relationship Id="rId2" Type="http://schemas.openxmlformats.org/officeDocument/2006/relationships/slideLayout" Target="../slideLayouts/slideLayout3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3" Type="http://schemas.openxmlformats.org/officeDocument/2006/relationships/slideLayout" Target="../slideLayouts/slideLayout4.xml" /><Relationship Id="rId4" Type="http://schemas.openxmlformats.org/officeDocument/2006/relationships/slideLayout" Target="../slideLayouts/slideLayout5.xml" /><Relationship Id="rId5" Type="http://schemas.openxmlformats.org/officeDocument/2006/relationships/slideLayout" Target="../slideLayouts/slideLayout6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9" Type="http://schemas.openxmlformats.org/officeDocument/2006/relationships/slideLayout" Target="../slideLayouts/slideLayout10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charts/chart1.xml><?xml version="1.0" encoding="utf-8"?>
<c:chartSpace xmlns:a="http://schemas.openxmlformats.org/drawingml/2006/main" xmlns:c="http://schemas.openxmlformats.org/drawingml/2006/chart">
  <c:date1904 val="0"/>
  <c:chart>
    <c:title>
      <c:tx>
        <c:rich>
          <a:bodyPr/>
          <a:lstStyle/>
          <a:p>
            <a:r>
              <a:rPr sz="1300" b="1">
                <a:solidFill>
                  <a:srgbClr val="1F3A5F"/>
                </a:solidFill>
              </a:rPr>
              <a:t>知识库各模块页数分布（共 25 页）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</c:f>
              <c:strCache>
                <c:ptCount val="1"/>
                <c:pt idx="0">
                  <c:v>页数</c:v>
                </c:pt>
              </c:strCache>
            </c:strRef>
          </c:tx>
          <c:spPr>
            <a:solidFill>
              <a:srgbClr val="2E6FB7"/>
            </a:solidFill>
          </c:spPr>
          <c:cat>
            <c:strRef>
              <c:f>sheet</c:f>
              <c:strCache>
                <c:ptCount val="7"/>
                <c:pt idx="0">
                  <c:v>AI概念</c:v>
                </c:pt>
                <c:pt idx="1">
                  <c:v>AI工具</c:v>
                </c:pt>
                <c:pt idx="2">
                  <c:v>工具对比</c:v>
                </c:pt>
                <c:pt idx="3">
                  <c:v>日报实践</c:v>
                </c:pt>
                <c:pt idx="4">
                  <c:v>WB实践</c:v>
                </c:pt>
                <c:pt idx="5">
                  <c:v>资料</c:v>
                </c:pt>
                <c:pt idx="6">
                  <c:v>索引</c:v>
                </c:pt>
              </c:strCache>
            </c:strRef>
          </c:cat>
          <c:val>
            <c:numRef>
              <c:f>sheet</c:f>
              <c:numCache>
                <c:formatCode>General</c:formatCode>
                <c:ptCount val="7"/>
                <c:pt idx="0">
                  <c:v>10</c:v>
                </c:pt>
                <c:pt idx="1">
                  <c:v>5</c:v>
                </c:pt>
                <c:pt idx="2">
                  <c:v>1</c:v>
                </c:pt>
                <c:pt idx="3">
                  <c:v>5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1F3A5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1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</c:chartSpace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1097280"/>
            <a:ext cx="3291840" cy="3291840"/>
          </a:xfrm>
          <a:prstGeom prst="ellipse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1280160"/>
            <a:ext cx="1371600" cy="1371600"/>
          </a:xfrm>
          <a:prstGeom prst="ellipse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6FB7"/>
                </a:solidFill>
                <a:latin typeface="Microsoft YaHei"/>
              </a:rPr>
              <a:t>PROJECT REVIEW · 2026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104241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1F3A5F"/>
                </a:solidFill>
                <a:latin typeface="Microsoft YaHei"/>
              </a:rPr>
              <a:t>第一周项目汇报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3794760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5A6472"/>
                </a:solidFill>
                <a:latin typeface="Microsoft YaHei"/>
              </a:rPr>
              <a:t>AI 工具上手与 WorkBuddy 自动化实践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32688" y="4572000"/>
            <a:ext cx="2926080" cy="54864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5577840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32A33"/>
                </a:solidFill>
                <a:latin typeface="Microsoft YaHei"/>
              </a:rPr>
              <a:t>汇报对象：管理层    </a:t>
            </a:r>
            <a:r>
              <a:rPr sz="1300" b="0">
                <a:solidFill>
                  <a:srgbClr val="232A33"/>
                </a:solidFill>
                <a:latin typeface="Microsoft YaHei"/>
              </a:rPr>
              <a:t>|    汇报周期：2026/07/28 – 07/30    </a:t>
            </a:r>
            <a:r>
              <a:rPr sz="1300" b="0">
                <a:solidFill>
                  <a:srgbClr val="232A33"/>
                </a:solidFill>
                <a:latin typeface="Microsoft YaHei"/>
              </a:rPr>
              <a:t>|    汇报日期：2026/07/31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548640" y="502920"/>
            <a:ext cx="118872" cy="566928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2"/>
          <p:cNvSpPr txBox="1"/>
          <p:nvPr/>
        </p:nvSpPr>
        <p:spPr>
          <a:xfrm>
            <a:off x="777240" y="420624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icrosoft YaHei"/>
              </a:rPr>
              <a:t>核心结论</a:t>
            </a:r>
            <a:endParaRPr/>
          </a:p>
        </p:txBody>
      </p:sp>
      <p:sp>
        <p:nvSpPr>
          <p:cNvPr id="133" name="TextBox 3"/>
          <p:cNvSpPr txBox="1"/>
          <p:nvPr/>
        </p:nvSpPr>
        <p:spPr>
          <a:xfrm>
            <a:off x="795528" y="107899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6FB7"/>
                </a:solidFill>
                <a:latin typeface="Microsoft YaHei"/>
              </a:rPr>
              <a:t>EXECUTIVE SUMMARY</a:t>
            </a:r>
            <a:endParaRPr/>
          </a:p>
        </p:txBody>
      </p:sp>
      <p:sp>
        <p:nvSpPr>
          <p:cNvPr id="134" name="Rectangle 4"/>
          <p:cNvSpPr/>
          <p:nvPr/>
        </p:nvSpPr>
        <p:spPr>
          <a:xfrm>
            <a:off x="548640" y="1280160"/>
            <a:ext cx="11091672" cy="16459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5"/>
          <p:cNvSpPr txBox="1"/>
          <p:nvPr/>
        </p:nvSpPr>
        <p:spPr>
          <a:xfrm>
            <a:off x="777240" y="1481328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E6FB7"/>
                </a:solidFill>
                <a:latin typeface="Microsoft YaHei"/>
              </a:rPr>
              <a:t>一周内完成 AI 工具体系从 0 到 1 搭建，跑通自动化复盘闭环，验证可复制的提效路径。</a:t>
            </a:r>
            <a:endParaRPr/>
          </a:p>
        </p:txBody>
      </p:sp>
      <p:sp>
        <p:nvSpPr>
          <p:cNvPr id="136" name="Rectangle 6"/>
          <p:cNvSpPr/>
          <p:nvPr/>
        </p:nvSpPr>
        <p:spPr>
          <a:xfrm>
            <a:off x="548640" y="214884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7"/>
          <p:cNvSpPr/>
          <p:nvPr/>
        </p:nvSpPr>
        <p:spPr>
          <a:xfrm>
            <a:off x="548640" y="2148840"/>
            <a:ext cx="2606040" cy="9144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8"/>
          <p:cNvSpPr txBox="1"/>
          <p:nvPr/>
        </p:nvSpPr>
        <p:spPr>
          <a:xfrm>
            <a:off x="713232" y="233172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2E6FB7"/>
                </a:solidFill>
                <a:latin typeface="Microsoft YaHei"/>
              </a:rPr>
              <a:t>01</a:t>
            </a:r>
            <a:endParaRPr/>
          </a:p>
        </p:txBody>
      </p:sp>
      <p:sp>
        <p:nvSpPr>
          <p:cNvPr id="139" name="TextBox 9"/>
          <p:cNvSpPr txBox="1"/>
          <p:nvPr/>
        </p:nvSpPr>
        <p:spPr>
          <a:xfrm>
            <a:off x="713232" y="281635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3A5F"/>
                </a:solidFill>
                <a:latin typeface="Microsoft YaHei"/>
              </a:rPr>
              <a:t>知识库成型</a:t>
            </a:r>
            <a:endParaRPr/>
          </a:p>
        </p:txBody>
      </p:sp>
      <p:sp>
        <p:nvSpPr>
          <p:cNvPr id="140" name="TextBox 10"/>
          <p:cNvSpPr txBox="1"/>
          <p:nvPr/>
        </p:nvSpPr>
        <p:spPr>
          <a:xfrm>
            <a:off x="713232" y="3291840"/>
            <a:ext cx="227685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</a:rPr>
              <a:t>累计 25 页结构化笔记，覆盖 10 大 AI 概念与 5 类工具。</a:t>
            </a:r>
            <a:endParaRPr/>
          </a:p>
        </p:txBody>
      </p:sp>
      <p:sp>
        <p:nvSpPr>
          <p:cNvPr id="141" name="Rectangle 11"/>
          <p:cNvSpPr/>
          <p:nvPr/>
        </p:nvSpPr>
        <p:spPr>
          <a:xfrm>
            <a:off x="3337560" y="214884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2"/>
          <p:cNvSpPr/>
          <p:nvPr/>
        </p:nvSpPr>
        <p:spPr>
          <a:xfrm>
            <a:off x="3337560" y="2148840"/>
            <a:ext cx="2606040" cy="9144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3"/>
          <p:cNvSpPr txBox="1"/>
          <p:nvPr/>
        </p:nvSpPr>
        <p:spPr>
          <a:xfrm>
            <a:off x="3502152" y="233172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2A93B"/>
                </a:solidFill>
                <a:latin typeface="Microsoft YaHei"/>
              </a:rPr>
              <a:t>02</a:t>
            </a:r>
            <a:endParaRPr/>
          </a:p>
        </p:txBody>
      </p:sp>
      <p:sp>
        <p:nvSpPr>
          <p:cNvPr id="144" name="TextBox 14"/>
          <p:cNvSpPr txBox="1"/>
          <p:nvPr/>
        </p:nvSpPr>
        <p:spPr>
          <a:xfrm>
            <a:off x="3502152" y="281635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3A5F"/>
                </a:solidFill>
                <a:latin typeface="Microsoft YaHei"/>
              </a:rPr>
              <a:t>自动化跑通</a:t>
            </a:r>
            <a:endParaRPr/>
          </a:p>
        </p:txBody>
      </p:sp>
      <p:sp>
        <p:nvSpPr>
          <p:cNvPr id="145" name="TextBox 15"/>
          <p:cNvSpPr txBox="1"/>
          <p:nvPr/>
        </p:nvSpPr>
        <p:spPr>
          <a:xfrm>
            <a:off x="3502152" y="3291840"/>
            <a:ext cx="227685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</a:rPr>
              <a:t>WorkBuddy 工作流每月自动生成知识库可视化报告，复盘自动化。</a:t>
            </a:r>
            <a:endParaRPr/>
          </a:p>
        </p:txBody>
      </p:sp>
      <p:sp>
        <p:nvSpPr>
          <p:cNvPr id="146" name="Rectangle 16"/>
          <p:cNvSpPr/>
          <p:nvPr/>
        </p:nvSpPr>
        <p:spPr>
          <a:xfrm>
            <a:off x="6126480" y="214884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7"/>
          <p:cNvSpPr/>
          <p:nvPr/>
        </p:nvSpPr>
        <p:spPr>
          <a:xfrm>
            <a:off x="6126480" y="2148840"/>
            <a:ext cx="2606040" cy="9144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8"/>
          <p:cNvSpPr txBox="1"/>
          <p:nvPr/>
        </p:nvSpPr>
        <p:spPr>
          <a:xfrm>
            <a:off x="6291072" y="233172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2E6FB7"/>
                </a:solidFill>
                <a:latin typeface="Microsoft YaHei"/>
              </a:rPr>
              <a:t>03</a:t>
            </a:r>
            <a:endParaRPr/>
          </a:p>
        </p:txBody>
      </p:sp>
      <p:sp>
        <p:nvSpPr>
          <p:cNvPr id="149" name="TextBox 19"/>
          <p:cNvSpPr txBox="1"/>
          <p:nvPr/>
        </p:nvSpPr>
        <p:spPr>
          <a:xfrm>
            <a:off x="6291072" y="281635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3A5F"/>
                </a:solidFill>
                <a:latin typeface="Microsoft YaHei"/>
              </a:rPr>
              <a:t>工具实操</a:t>
            </a:r>
            <a:endParaRPr/>
          </a:p>
        </p:txBody>
      </p:sp>
      <p:sp>
        <p:nvSpPr>
          <p:cNvPr id="150" name="TextBox 20"/>
          <p:cNvSpPr txBox="1"/>
          <p:nvPr/>
        </p:nvSpPr>
        <p:spPr>
          <a:xfrm>
            <a:off x="6291072" y="3291840"/>
            <a:ext cx="227685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</a:rPr>
              <a:t>完成 Claude Code / Codex 实测与对比，产出可运行 Demo。</a:t>
            </a:r>
            <a:endParaRPr/>
          </a:p>
        </p:txBody>
      </p:sp>
      <p:sp>
        <p:nvSpPr>
          <p:cNvPr id="151" name="Rectangle 21"/>
          <p:cNvSpPr/>
          <p:nvPr/>
        </p:nvSpPr>
        <p:spPr>
          <a:xfrm>
            <a:off x="8915400" y="214884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22"/>
          <p:cNvSpPr/>
          <p:nvPr/>
        </p:nvSpPr>
        <p:spPr>
          <a:xfrm>
            <a:off x="8915400" y="2148840"/>
            <a:ext cx="2606040" cy="9144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23"/>
          <p:cNvSpPr txBox="1"/>
          <p:nvPr/>
        </p:nvSpPr>
        <p:spPr>
          <a:xfrm>
            <a:off x="9079992" y="233172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2A93B"/>
                </a:solidFill>
                <a:latin typeface="Microsoft YaHei"/>
              </a:rPr>
              <a:t>04</a:t>
            </a:r>
            <a:endParaRPr/>
          </a:p>
        </p:txBody>
      </p:sp>
      <p:sp>
        <p:nvSpPr>
          <p:cNvPr id="154" name="TextBox 24"/>
          <p:cNvSpPr txBox="1"/>
          <p:nvPr/>
        </p:nvSpPr>
        <p:spPr>
          <a:xfrm>
            <a:off x="9079992" y="281635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3A5F"/>
                </a:solidFill>
                <a:latin typeface="Microsoft YaHei"/>
              </a:rPr>
              <a:t>方法论沉淀</a:t>
            </a:r>
            <a:endParaRPr/>
          </a:p>
        </p:txBody>
      </p:sp>
      <p:sp>
        <p:nvSpPr>
          <p:cNvPr id="155" name="TextBox 25"/>
          <p:cNvSpPr txBox="1"/>
          <p:nvPr/>
        </p:nvSpPr>
        <p:spPr>
          <a:xfrm>
            <a:off x="9079992" y="3291840"/>
            <a:ext cx="227685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</a:rPr>
              <a:t>引入 Karpathy LLM Wiki 知识管理法，具备团队推广基础。</a:t>
            </a:r>
            <a:endParaRPr/>
          </a:p>
        </p:txBody>
      </p:sp>
      <p:sp>
        <p:nvSpPr>
          <p:cNvPr id="156" name="Rectangle 26"/>
          <p:cNvSpPr/>
          <p:nvPr/>
        </p:nvSpPr>
        <p:spPr>
          <a:xfrm>
            <a:off x="548640" y="4754880"/>
            <a:ext cx="11091672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27"/>
          <p:cNvSpPr txBox="1"/>
          <p:nvPr/>
        </p:nvSpPr>
        <p:spPr>
          <a:xfrm>
            <a:off x="548640" y="4864608"/>
            <a:ext cx="277063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A93B"/>
                </a:solidFill>
                <a:latin typeface="Microsoft YaHei"/>
              </a:rPr>
              <a:t>25</a:t>
            </a:r>
            <a:endParaRPr/>
          </a:p>
        </p:txBody>
      </p:sp>
      <p:sp>
        <p:nvSpPr>
          <p:cNvPr id="158" name="TextBox 28"/>
          <p:cNvSpPr txBox="1"/>
          <p:nvPr/>
        </p:nvSpPr>
        <p:spPr>
          <a:xfrm>
            <a:off x="548640" y="5394960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累计笔记页数</a:t>
            </a:r>
            <a:endParaRPr/>
          </a:p>
        </p:txBody>
      </p:sp>
      <p:sp>
        <p:nvSpPr>
          <p:cNvPr id="159" name="Rectangle 29"/>
          <p:cNvSpPr/>
          <p:nvPr/>
        </p:nvSpPr>
        <p:spPr>
          <a:xfrm>
            <a:off x="3319272" y="4983480"/>
            <a:ext cx="13716" cy="502920"/>
          </a:xfrm>
          <a:prstGeom prst="rect">
            <a:avLst/>
          </a:prstGeom>
          <a:solidFill>
            <a:srgbClr val="3A5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30"/>
          <p:cNvSpPr txBox="1"/>
          <p:nvPr/>
        </p:nvSpPr>
        <p:spPr>
          <a:xfrm>
            <a:off x="3319272" y="4864608"/>
            <a:ext cx="277063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A93B"/>
                </a:solidFill>
                <a:latin typeface="Microsoft YaHei"/>
              </a:rPr>
              <a:t>3</a:t>
            </a:r>
            <a:endParaRPr/>
          </a:p>
        </p:txBody>
      </p:sp>
      <p:sp>
        <p:nvSpPr>
          <p:cNvPr id="161" name="TextBox 31"/>
          <p:cNvSpPr txBox="1"/>
          <p:nvPr/>
        </p:nvSpPr>
        <p:spPr>
          <a:xfrm>
            <a:off x="3319272" y="5394960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集中实践天数</a:t>
            </a:r>
            <a:endParaRPr/>
          </a:p>
        </p:txBody>
      </p:sp>
      <p:sp>
        <p:nvSpPr>
          <p:cNvPr id="162" name="Rectangle 32"/>
          <p:cNvSpPr/>
          <p:nvPr/>
        </p:nvSpPr>
        <p:spPr>
          <a:xfrm>
            <a:off x="6089904" y="4983480"/>
            <a:ext cx="13716" cy="502920"/>
          </a:xfrm>
          <a:prstGeom prst="rect">
            <a:avLst/>
          </a:prstGeom>
          <a:solidFill>
            <a:srgbClr val="3A5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33"/>
          <p:cNvSpPr txBox="1"/>
          <p:nvPr/>
        </p:nvSpPr>
        <p:spPr>
          <a:xfrm>
            <a:off x="6089903" y="4864608"/>
            <a:ext cx="277063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A93B"/>
                </a:solidFill>
                <a:latin typeface="Microsoft YaHei"/>
              </a:rPr>
              <a:t>1</a:t>
            </a:r>
            <a:endParaRPr/>
          </a:p>
        </p:txBody>
      </p:sp>
      <p:sp>
        <p:nvSpPr>
          <p:cNvPr id="164" name="TextBox 34"/>
          <p:cNvSpPr txBox="1"/>
          <p:nvPr/>
        </p:nvSpPr>
        <p:spPr>
          <a:xfrm>
            <a:off x="6089903" y="5394960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自动化工作流</a:t>
            </a:r>
            <a:endParaRPr/>
          </a:p>
        </p:txBody>
      </p:sp>
      <p:sp>
        <p:nvSpPr>
          <p:cNvPr id="165" name="Rectangle 35"/>
          <p:cNvSpPr/>
          <p:nvPr/>
        </p:nvSpPr>
        <p:spPr>
          <a:xfrm>
            <a:off x="8860536" y="4983480"/>
            <a:ext cx="13716" cy="502920"/>
          </a:xfrm>
          <a:prstGeom prst="rect">
            <a:avLst/>
          </a:prstGeom>
          <a:solidFill>
            <a:srgbClr val="3A5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36"/>
          <p:cNvSpPr txBox="1"/>
          <p:nvPr/>
        </p:nvSpPr>
        <p:spPr>
          <a:xfrm>
            <a:off x="8860536" y="4864608"/>
            <a:ext cx="277063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A93B"/>
                </a:solidFill>
                <a:latin typeface="Microsoft YaHei"/>
              </a:rPr>
              <a:t>1</a:t>
            </a:r>
            <a:endParaRPr/>
          </a:p>
        </p:txBody>
      </p:sp>
      <p:sp>
        <p:nvSpPr>
          <p:cNvPr id="167" name="TextBox 37"/>
          <p:cNvSpPr txBox="1"/>
          <p:nvPr/>
        </p:nvSpPr>
        <p:spPr>
          <a:xfrm>
            <a:off x="8860536" y="5394960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可复用方法论</a:t>
            </a:r>
            <a:endParaRPr/>
          </a:p>
        </p:txBody>
      </p:sp>
      <p:sp>
        <p:nvSpPr>
          <p:cNvPr id="168" name="TextBox 38"/>
          <p:cNvSpPr txBox="1"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</a:rPr>
              <a:t>第一周项目汇报 · AI 工具上手与 WorkBuddy 实践</a:t>
            </a:r>
            <a:endParaRPr/>
          </a:p>
        </p:txBody>
      </p:sp>
      <p:sp>
        <p:nvSpPr>
          <p:cNvPr id="169" name="TextBox 39"/>
          <p:cNvSpPr txBox="1"/>
          <p:nvPr/>
        </p:nvSpPr>
        <p:spPr>
          <a:xfrm>
            <a:off x="8503920" y="6437376"/>
            <a:ext cx="3136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</a:rPr>
              <a:t>02 / 17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"/>
          <p:cNvSpPr/>
          <p:nvPr/>
        </p:nvSpPr>
        <p:spPr>
          <a:xfrm>
            <a:off x="548640" y="502920"/>
            <a:ext cx="118872" cy="566928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2"/>
          <p:cNvSpPr txBox="1"/>
          <p:nvPr/>
        </p:nvSpPr>
        <p:spPr>
          <a:xfrm>
            <a:off x="777240" y="420624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icrosoft YaHei"/>
              </a:rPr>
              <a:t>汇报框架</a:t>
            </a:r>
            <a:endParaRPr/>
          </a:p>
        </p:txBody>
      </p:sp>
      <p:sp>
        <p:nvSpPr>
          <p:cNvPr id="173" name="TextBox 3"/>
          <p:cNvSpPr txBox="1"/>
          <p:nvPr/>
        </p:nvSpPr>
        <p:spPr>
          <a:xfrm>
            <a:off x="795528" y="107899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6FB7"/>
                </a:solidFill>
                <a:latin typeface="Microsoft YaHei"/>
              </a:rPr>
              <a:t>AGENDA</a:t>
            </a:r>
            <a:endParaRPr/>
          </a:p>
        </p:txBody>
      </p:sp>
      <p:sp>
        <p:nvSpPr>
          <p:cNvPr id="174" name="Rectangle 4"/>
          <p:cNvSpPr/>
          <p:nvPr/>
        </p:nvSpPr>
        <p:spPr>
          <a:xfrm>
            <a:off x="548640" y="1280160"/>
            <a:ext cx="11091672" cy="16459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5"/>
          <p:cNvSpPr/>
          <p:nvPr/>
        </p:nvSpPr>
        <p:spPr>
          <a:xfrm>
            <a:off x="548640" y="1691640"/>
            <a:ext cx="11091672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6"/>
          <p:cNvSpPr/>
          <p:nvPr/>
        </p:nvSpPr>
        <p:spPr>
          <a:xfrm>
            <a:off x="548640" y="1691640"/>
            <a:ext cx="109728" cy="9144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7"/>
          <p:cNvSpPr txBox="1"/>
          <p:nvPr/>
        </p:nvSpPr>
        <p:spPr>
          <a:xfrm>
            <a:off x="868680" y="1691640"/>
            <a:ext cx="10972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E6FB7"/>
                </a:solidFill>
                <a:latin typeface="Microsoft YaHei"/>
              </a:rPr>
              <a:t>01</a:t>
            </a:r>
            <a:endParaRPr/>
          </a:p>
        </p:txBody>
      </p:sp>
      <p:sp>
        <p:nvSpPr>
          <p:cNvPr id="178" name="TextBox 8"/>
          <p:cNvSpPr txBox="1"/>
          <p:nvPr/>
        </p:nvSpPr>
        <p:spPr>
          <a:xfrm>
            <a:off x="2057400" y="1837944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Microsoft YaHei"/>
              </a:rPr>
              <a:t>背景与目标</a:t>
            </a:r>
            <a:endParaRPr/>
          </a:p>
        </p:txBody>
      </p:sp>
      <p:sp>
        <p:nvSpPr>
          <p:cNvPr id="179" name="TextBox 9"/>
          <p:cNvSpPr txBox="1"/>
          <p:nvPr/>
        </p:nvSpPr>
        <p:spPr>
          <a:xfrm>
            <a:off x="2057400" y="22402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</a:rPr>
              <a:t>为什么做、做到什么程度</a:t>
            </a:r>
            <a:endParaRPr/>
          </a:p>
        </p:txBody>
      </p:sp>
      <p:sp>
        <p:nvSpPr>
          <p:cNvPr id="180" name="Rectangle 10"/>
          <p:cNvSpPr/>
          <p:nvPr/>
        </p:nvSpPr>
        <p:spPr>
          <a:xfrm>
            <a:off x="548640" y="2770632"/>
            <a:ext cx="11091672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1"/>
          <p:cNvSpPr/>
          <p:nvPr/>
        </p:nvSpPr>
        <p:spPr>
          <a:xfrm>
            <a:off x="548640" y="2770632"/>
            <a:ext cx="109728" cy="9144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2"/>
          <p:cNvSpPr txBox="1"/>
          <p:nvPr/>
        </p:nvSpPr>
        <p:spPr>
          <a:xfrm>
            <a:off x="868680" y="2770632"/>
            <a:ext cx="10972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A93B"/>
                </a:solidFill>
                <a:latin typeface="Microsoft YaHei"/>
              </a:rPr>
              <a:t>02</a:t>
            </a:r>
            <a:endParaRPr/>
          </a:p>
        </p:txBody>
      </p:sp>
      <p:sp>
        <p:nvSpPr>
          <p:cNvPr id="183" name="TextBox 13"/>
          <p:cNvSpPr txBox="1"/>
          <p:nvPr/>
        </p:nvSpPr>
        <p:spPr>
          <a:xfrm>
            <a:off x="2057400" y="2916936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Microsoft YaHei"/>
              </a:rPr>
              <a:t>周进展与成果</a:t>
            </a:r>
            <a:endParaRPr/>
          </a:p>
        </p:txBody>
      </p:sp>
      <p:sp>
        <p:nvSpPr>
          <p:cNvPr id="184" name="TextBox 14"/>
          <p:cNvSpPr txBox="1"/>
          <p:nvPr/>
        </p:nvSpPr>
        <p:spPr>
          <a:xfrm>
            <a:off x="2057400" y="33192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</a:rPr>
              <a:t>三天时间线与三大核心产出</a:t>
            </a:r>
            <a:endParaRPr/>
          </a:p>
        </p:txBody>
      </p:sp>
      <p:sp>
        <p:nvSpPr>
          <p:cNvPr id="185" name="Rectangle 15"/>
          <p:cNvSpPr/>
          <p:nvPr/>
        </p:nvSpPr>
        <p:spPr>
          <a:xfrm>
            <a:off x="548640" y="3849624"/>
            <a:ext cx="11091672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6"/>
          <p:cNvSpPr/>
          <p:nvPr/>
        </p:nvSpPr>
        <p:spPr>
          <a:xfrm>
            <a:off x="548640" y="3849624"/>
            <a:ext cx="109728" cy="9144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7"/>
          <p:cNvSpPr txBox="1"/>
          <p:nvPr/>
        </p:nvSpPr>
        <p:spPr>
          <a:xfrm>
            <a:off x="868680" y="3849624"/>
            <a:ext cx="10972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E6FB7"/>
                </a:solidFill>
                <a:latin typeface="Microsoft YaHei"/>
              </a:rPr>
              <a:t>03</a:t>
            </a:r>
            <a:endParaRPr/>
          </a:p>
        </p:txBody>
      </p:sp>
      <p:sp>
        <p:nvSpPr>
          <p:cNvPr id="188" name="TextBox 18"/>
          <p:cNvSpPr txBox="1"/>
          <p:nvPr/>
        </p:nvSpPr>
        <p:spPr>
          <a:xfrm>
            <a:off x="2057400" y="3995928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Microsoft YaHei"/>
              </a:rPr>
              <a:t>经验与方法论</a:t>
            </a:r>
            <a:endParaRPr/>
          </a:p>
        </p:txBody>
      </p:sp>
      <p:sp>
        <p:nvSpPr>
          <p:cNvPr id="189" name="TextBox 19"/>
          <p:cNvSpPr txBox="1"/>
          <p:nvPr/>
        </p:nvSpPr>
        <p:spPr>
          <a:xfrm>
            <a:off x="2057400" y="4398264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</a:rPr>
              <a:t>LLM Wiki 知识管理法 + 问题解决</a:t>
            </a:r>
            <a:endParaRPr/>
          </a:p>
        </p:txBody>
      </p:sp>
      <p:sp>
        <p:nvSpPr>
          <p:cNvPr id="190" name="Rectangle 20"/>
          <p:cNvSpPr/>
          <p:nvPr/>
        </p:nvSpPr>
        <p:spPr>
          <a:xfrm>
            <a:off x="548640" y="4928616"/>
            <a:ext cx="11091672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21"/>
          <p:cNvSpPr/>
          <p:nvPr/>
        </p:nvSpPr>
        <p:spPr>
          <a:xfrm>
            <a:off x="548640" y="4928616"/>
            <a:ext cx="109728" cy="9144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22"/>
          <p:cNvSpPr txBox="1"/>
          <p:nvPr/>
        </p:nvSpPr>
        <p:spPr>
          <a:xfrm>
            <a:off x="868680" y="4928616"/>
            <a:ext cx="10972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A93B"/>
                </a:solidFill>
                <a:latin typeface="Microsoft YaHei"/>
              </a:rPr>
              <a:t>04</a:t>
            </a:r>
            <a:endParaRPr/>
          </a:p>
        </p:txBody>
      </p:sp>
      <p:sp>
        <p:nvSpPr>
          <p:cNvPr id="193" name="TextBox 23"/>
          <p:cNvSpPr txBox="1"/>
          <p:nvPr/>
        </p:nvSpPr>
        <p:spPr>
          <a:xfrm>
            <a:off x="2057400" y="507492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Microsoft YaHei"/>
              </a:rPr>
              <a:t>下一步与所需支持</a:t>
            </a:r>
            <a:endParaRPr/>
          </a:p>
        </p:txBody>
      </p:sp>
      <p:sp>
        <p:nvSpPr>
          <p:cNvPr id="194" name="TextBox 24"/>
          <p:cNvSpPr txBox="1"/>
          <p:nvPr/>
        </p:nvSpPr>
        <p:spPr>
          <a:xfrm>
            <a:off x="2057400" y="5477256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</a:rPr>
              <a:t>推广计划、风险与资源请求</a:t>
            </a:r>
            <a:endParaRPr/>
          </a:p>
        </p:txBody>
      </p:sp>
      <p:sp>
        <p:nvSpPr>
          <p:cNvPr id="195" name="TextBox 25"/>
          <p:cNvSpPr txBox="1"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</a:rPr>
              <a:t>第一周项目汇报 · AI 工具上手与 WorkBuddy 实践</a:t>
            </a:r>
            <a:endParaRPr/>
          </a:p>
        </p:txBody>
      </p:sp>
      <p:sp>
        <p:nvSpPr>
          <p:cNvPr id="196" name="TextBox 26"/>
          <p:cNvSpPr txBox="1"/>
          <p:nvPr/>
        </p:nvSpPr>
        <p:spPr>
          <a:xfrm>
            <a:off x="8503920" y="6437376"/>
            <a:ext cx="3136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</a:rPr>
              <a:t>03 / 17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angle 1"/>
          <p:cNvSpPr/>
          <p:nvPr/>
        </p:nvSpPr>
        <p:spPr>
          <a:xfrm>
            <a:off x="548640" y="502920"/>
            <a:ext cx="118872" cy="566928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2"/>
          <p:cNvSpPr txBox="1"/>
          <p:nvPr/>
        </p:nvSpPr>
        <p:spPr>
          <a:xfrm>
            <a:off x="777240" y="420624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icrosoft YaHei"/>
              </a:rPr>
              <a:t>项目背景与目标</a:t>
            </a:r>
            <a:endParaRPr/>
          </a:p>
        </p:txBody>
      </p:sp>
      <p:sp>
        <p:nvSpPr>
          <p:cNvPr id="200" name="TextBox 3"/>
          <p:cNvSpPr txBox="1"/>
          <p:nvPr/>
        </p:nvSpPr>
        <p:spPr>
          <a:xfrm>
            <a:off x="795528" y="107899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6FB7"/>
                </a:solidFill>
                <a:latin typeface="Microsoft YaHei"/>
              </a:rPr>
              <a:t>BACKGROUND &amp; OBJECTIVES</a:t>
            </a:r>
            <a:endParaRPr/>
          </a:p>
        </p:txBody>
      </p:sp>
      <p:sp>
        <p:nvSpPr>
          <p:cNvPr id="201" name="Rectangle 4"/>
          <p:cNvSpPr/>
          <p:nvPr/>
        </p:nvSpPr>
        <p:spPr>
          <a:xfrm>
            <a:off x="548640" y="1280160"/>
            <a:ext cx="11091672" cy="16459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5"/>
          <p:cNvSpPr txBox="1"/>
          <p:nvPr/>
        </p:nvSpPr>
        <p:spPr>
          <a:xfrm>
            <a:off x="777240" y="150876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Microsoft YaHei"/>
              </a:rPr>
              <a:t>背景：</a:t>
            </a:r>
            <a:r>
              <a:rPr sz="1400" b="0">
                <a:solidFill>
                  <a:srgbClr val="232A33"/>
                </a:solidFill>
                <a:latin typeface="Microsoft YaHei"/>
              </a:rPr>
              <a:t>AI 工具与编码智能体（Agent）迭代迅速，团队亟需快速建立系统认知与实操能力，把"会用"升级为"能沉淀、可复制"。</a:t>
            </a:r>
            <a:endParaRPr/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Microsoft YaHei"/>
              </a:rPr>
              <a:t>范围：</a:t>
            </a:r>
            <a:r>
              <a:rPr sz="1400" b="0">
                <a:solidFill>
                  <a:srgbClr val="232A33"/>
                </a:solidFill>
                <a:latin typeface="Microsoft YaHei"/>
              </a:rPr>
              <a:t>单人一周集中实践（7/28–7/30），以 Obsidian 知识库 + WorkBuddy 为主要载体。</a:t>
            </a:r>
            <a:endParaRPr/>
          </a:p>
        </p:txBody>
      </p:sp>
      <p:sp>
        <p:nvSpPr>
          <p:cNvPr id="203" name="TextBox 6"/>
          <p:cNvSpPr txBox="1"/>
          <p:nvPr/>
        </p:nvSpPr>
        <p:spPr>
          <a:xfrm>
            <a:off x="777240" y="320040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3A5F"/>
                </a:solidFill>
                <a:latin typeface="Microsoft YaHei"/>
              </a:rPr>
              <a:t>本周三大目标</a:t>
            </a:r>
            <a:endParaRPr/>
          </a:p>
        </p:txBody>
      </p:sp>
      <p:sp>
        <p:nvSpPr>
          <p:cNvPr id="204" name="Rectangle 7"/>
          <p:cNvSpPr/>
          <p:nvPr/>
        </p:nvSpPr>
        <p:spPr>
          <a:xfrm>
            <a:off x="548640" y="3657600"/>
            <a:ext cx="3291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8"/>
          <p:cNvSpPr/>
          <p:nvPr/>
        </p:nvSpPr>
        <p:spPr>
          <a:xfrm>
            <a:off x="548640" y="3657600"/>
            <a:ext cx="3291840" cy="9144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9"/>
          <p:cNvSpPr/>
          <p:nvPr/>
        </p:nvSpPr>
        <p:spPr>
          <a:xfrm>
            <a:off x="777240" y="3977639"/>
            <a:ext cx="502920" cy="502920"/>
          </a:xfrm>
          <a:prstGeom prst="ellipse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10"/>
          <p:cNvSpPr txBox="1"/>
          <p:nvPr/>
        </p:nvSpPr>
        <p:spPr>
          <a:xfrm>
            <a:off x="77724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✓</a:t>
            </a:r>
            <a:endParaRPr/>
          </a:p>
        </p:txBody>
      </p:sp>
      <p:sp>
        <p:nvSpPr>
          <p:cNvPr id="208" name="TextBox 11"/>
          <p:cNvSpPr txBox="1"/>
          <p:nvPr/>
        </p:nvSpPr>
        <p:spPr>
          <a:xfrm>
            <a:off x="1417319" y="3977639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建立结构化 AI 知识库</a:t>
            </a: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209" name="TextBox 12"/>
          <p:cNvSpPr txBox="1"/>
          <p:nvPr/>
        </p:nvSpPr>
        <p:spPr>
          <a:xfrm>
            <a:off x="822959" y="470916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</a:rPr>
              <a:t>按概念 / 工具 / 对比分类沉淀，形成可检索的体系。</a:t>
            </a:r>
            <a:endParaRPr/>
          </a:p>
        </p:txBody>
      </p:sp>
      <p:sp>
        <p:nvSpPr>
          <p:cNvPr id="210" name="Rectangle 13"/>
          <p:cNvSpPr/>
          <p:nvPr/>
        </p:nvSpPr>
        <p:spPr>
          <a:xfrm>
            <a:off x="4160520" y="3657600"/>
            <a:ext cx="3291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14"/>
          <p:cNvSpPr/>
          <p:nvPr/>
        </p:nvSpPr>
        <p:spPr>
          <a:xfrm>
            <a:off x="4160520" y="3657600"/>
            <a:ext cx="3291840" cy="9144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Oval 15"/>
          <p:cNvSpPr/>
          <p:nvPr/>
        </p:nvSpPr>
        <p:spPr>
          <a:xfrm>
            <a:off x="4389120" y="3977639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16"/>
          <p:cNvSpPr txBox="1"/>
          <p:nvPr/>
        </p:nvSpPr>
        <p:spPr>
          <a:xfrm>
            <a:off x="43891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✓</a:t>
            </a:r>
            <a:endParaRPr/>
          </a:p>
        </p:txBody>
      </p:sp>
      <p:sp>
        <p:nvSpPr>
          <p:cNvPr id="214" name="TextBox 17"/>
          <p:cNvSpPr txBox="1"/>
          <p:nvPr/>
        </p:nvSpPr>
        <p:spPr>
          <a:xfrm>
            <a:off x="5029200" y="3977639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掌握 WorkBuddy 并跑通自动化</a:t>
            </a: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215" name="TextBox 18"/>
          <p:cNvSpPr txBox="1"/>
          <p:nvPr/>
        </p:nvSpPr>
        <p:spPr>
          <a:xfrm>
            <a:off x="4434840" y="470916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</a:rPr>
              <a:t>理解核心模块，落地一个端到端自动化工作流。</a:t>
            </a:r>
            <a:endParaRPr/>
          </a:p>
        </p:txBody>
      </p:sp>
      <p:sp>
        <p:nvSpPr>
          <p:cNvPr id="216" name="Rectangle 19"/>
          <p:cNvSpPr/>
          <p:nvPr/>
        </p:nvSpPr>
        <p:spPr>
          <a:xfrm>
            <a:off x="7772400" y="3657600"/>
            <a:ext cx="3291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ectangle 20"/>
          <p:cNvSpPr/>
          <p:nvPr/>
        </p:nvSpPr>
        <p:spPr>
          <a:xfrm>
            <a:off x="7772400" y="3657600"/>
            <a:ext cx="3291840" cy="9144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21"/>
          <p:cNvSpPr/>
          <p:nvPr/>
        </p:nvSpPr>
        <p:spPr>
          <a:xfrm>
            <a:off x="8001000" y="3977639"/>
            <a:ext cx="502920" cy="502920"/>
          </a:xfrm>
          <a:prstGeom prst="ellipse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2"/>
          <p:cNvSpPr txBox="1"/>
          <p:nvPr/>
        </p:nvSpPr>
        <p:spPr>
          <a:xfrm>
            <a:off x="800100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✓</a:t>
            </a:r>
            <a:endParaRPr/>
          </a:p>
        </p:txBody>
      </p:sp>
      <p:sp>
        <p:nvSpPr>
          <p:cNvPr id="220" name="TextBox 23"/>
          <p:cNvSpPr txBox="1"/>
          <p:nvPr/>
        </p:nvSpPr>
        <p:spPr>
          <a:xfrm>
            <a:off x="8641080" y="3977639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沉淀可复用方法论</a:t>
            </a: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221" name="TextBox 24"/>
          <p:cNvSpPr txBox="1"/>
          <p:nvPr/>
        </p:nvSpPr>
        <p:spPr>
          <a:xfrm>
            <a:off x="8046720" y="470916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</a:rPr>
              <a:t>形成可向团队复制的知识管理范式。</a:t>
            </a:r>
            <a:endParaRPr/>
          </a:p>
        </p:txBody>
      </p:sp>
      <p:sp>
        <p:nvSpPr>
          <p:cNvPr id="222" name="TextBox 25"/>
          <p:cNvSpPr txBox="1"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</a:rPr>
              <a:t>第一周项目汇报 · AI 工具上手与 WorkBuddy 实践</a:t>
            </a:r>
            <a:endParaRPr/>
          </a:p>
        </p:txBody>
      </p:sp>
      <p:sp>
        <p:nvSpPr>
          <p:cNvPr id="223" name="TextBox 26"/>
          <p:cNvSpPr txBox="1"/>
          <p:nvPr/>
        </p:nvSpPr>
        <p:spPr>
          <a:xfrm>
            <a:off x="8503920" y="6437376"/>
            <a:ext cx="3136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</a:rPr>
              <a:t>04 / 17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c="http://schemas.openxmlformats.org/drawingml/2006/chart">
  <p:cSld>
    <p:bg>
      <p:bgPr>
        <a:solidFill>
          <a:srgbClr val="FFFFFF"/>
        </a:solidFill>
        <a:effectLst/>
      </p:bgPr>
    </p:bg>
    <p:spTree>
      <p:nvGrpSpPr>
        <p:cNvPr id="2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ectangle 1"/>
          <p:cNvSpPr/>
          <p:nvPr/>
        </p:nvSpPr>
        <p:spPr>
          <a:xfrm>
            <a:off x="548640" y="502920"/>
            <a:ext cx="118872" cy="566928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"/>
          <p:cNvSpPr txBox="1"/>
          <p:nvPr/>
        </p:nvSpPr>
        <p:spPr>
          <a:xfrm>
            <a:off x="777240" y="420624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icrosoft YaHei"/>
              </a:rPr>
              <a:t>成果一：AI 知识库体系成型</a:t>
            </a:r>
            <a:endParaRPr/>
          </a:p>
        </p:txBody>
      </p:sp>
      <p:sp>
        <p:nvSpPr>
          <p:cNvPr id="227" name="TextBox 3"/>
          <p:cNvSpPr txBox="1"/>
          <p:nvPr/>
        </p:nvSpPr>
        <p:spPr>
          <a:xfrm>
            <a:off x="795528" y="107899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6FB7"/>
                </a:solidFill>
                <a:latin typeface="Microsoft YaHei"/>
              </a:rPr>
              <a:t>DELIVERABLE 1 · KNOWLEDGE BASE</a:t>
            </a:r>
            <a:endParaRPr/>
          </a:p>
        </p:txBody>
      </p:sp>
      <p:sp>
        <p:nvSpPr>
          <p:cNvPr id="228" name="Rectangle 4"/>
          <p:cNvSpPr/>
          <p:nvPr/>
        </p:nvSpPr>
        <p:spPr>
          <a:xfrm>
            <a:off x="548640" y="1280160"/>
            <a:ext cx="11091672" cy="16459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29" name="Chart 5"/>
          <p:cNvGraphicFramePr/>
          <p:nvPr/>
        </p:nvGraphicFramePr>
        <p:xfrm>
          <a:off x="548640" y="1737360"/>
          <a:ext cx="6400800" cy="420624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230" name="Rectangle 6"/>
          <p:cNvSpPr/>
          <p:nvPr/>
        </p:nvSpPr>
        <p:spPr>
          <a:xfrm>
            <a:off x="7315200" y="1737360"/>
            <a:ext cx="4325112" cy="42062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7"/>
          <p:cNvSpPr/>
          <p:nvPr/>
        </p:nvSpPr>
        <p:spPr>
          <a:xfrm>
            <a:off x="7315200" y="1737360"/>
            <a:ext cx="109728" cy="420624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8"/>
          <p:cNvSpPr txBox="1"/>
          <p:nvPr/>
        </p:nvSpPr>
        <p:spPr>
          <a:xfrm>
            <a:off x="7589520" y="192024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3A5F"/>
                </a:solidFill>
                <a:latin typeface="Microsoft YaHei"/>
              </a:rPr>
              <a:t>结构要点</a:t>
            </a:r>
            <a:endParaRPr/>
          </a:p>
        </p:txBody>
      </p:sp>
      <p:sp>
        <p:nvSpPr>
          <p:cNvPr id="233" name="TextBox 9"/>
          <p:cNvSpPr txBox="1"/>
          <p:nvPr/>
        </p:nvSpPr>
        <p:spPr>
          <a:xfrm>
            <a:off x="7589520" y="2514600"/>
            <a:ext cx="393192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232A33"/>
                </a:solidFill>
                <a:latin typeface="Microsoft YaHei"/>
              </a:rPr>
              <a:t>• 六大分类清晰：概念 / 工具 / 对比 / 日报 / 实践 / 资料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232A33"/>
                </a:solidFill>
                <a:latin typeface="Microsoft YaHei"/>
              </a:rPr>
              <a:t>• 概念页 10 篇，构成知识体系主干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232A33"/>
                </a:solidFill>
                <a:latin typeface="Microsoft YaHei"/>
              </a:rPr>
              <a:t>• 核心枢纽：RAG（6 入链）、LLM（5 入链）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232A33"/>
                </a:solidFill>
                <a:latin typeface="Microsoft YaHei"/>
              </a:rPr>
              <a:t>• 索引页随每次更新自动维护，导航零成本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32A33"/>
                </a:solidFill>
                <a:latin typeface="Microsoft YaHei"/>
              </a:rPr>
              <a:t>• 全库为 Git 管理的 Markdown，天然带版本历史</a:t>
            </a:r>
            <a:endParaRPr/>
          </a:p>
        </p:txBody>
      </p:sp>
      <p:sp>
        <p:nvSpPr>
          <p:cNvPr id="234" name="TextBox 10"/>
          <p:cNvSpPr txBox="1"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</a:rPr>
              <a:t>第一周项目汇报 · AI 工具上手与 WorkBuddy 实践</a:t>
            </a:r>
            <a:endParaRPr/>
          </a:p>
        </p:txBody>
      </p:sp>
      <p:sp>
        <p:nvSpPr>
          <p:cNvPr id="235" name="TextBox 11"/>
          <p:cNvSpPr txBox="1"/>
          <p:nvPr/>
        </p:nvSpPr>
        <p:spPr>
          <a:xfrm>
            <a:off x="8503920" y="6437376"/>
            <a:ext cx="3136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</a:rPr>
              <a:t>06 / 17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2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 1"/>
          <p:cNvSpPr/>
          <p:nvPr/>
        </p:nvSpPr>
        <p:spPr>
          <a:xfrm>
            <a:off x="548640" y="502920"/>
            <a:ext cx="118872" cy="566928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TextBox 2"/>
          <p:cNvSpPr txBox="1"/>
          <p:nvPr/>
        </p:nvSpPr>
        <p:spPr>
          <a:xfrm>
            <a:off x="777240" y="420624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icrosoft YaHei"/>
              </a:rPr>
              <a:t>AI 基础知识要点</a:t>
            </a:r>
            <a:endParaRPr/>
          </a:p>
        </p:txBody>
      </p:sp>
      <p:sp>
        <p:nvSpPr>
          <p:cNvPr id="239" name="TextBox 3"/>
          <p:cNvSpPr txBox="1"/>
          <p:nvPr/>
        </p:nvSpPr>
        <p:spPr>
          <a:xfrm>
            <a:off x="795528" y="107899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6FB7"/>
                </a:solidFill>
                <a:latin typeface="Microsoft YaHei"/>
              </a:rPr>
              <a:t>AI FUNDAMENTALS</a:t>
            </a:r>
            <a:endParaRPr/>
          </a:p>
        </p:txBody>
      </p:sp>
      <p:sp>
        <p:nvSpPr>
          <p:cNvPr id="240" name="Rectangle 4"/>
          <p:cNvSpPr/>
          <p:nvPr/>
        </p:nvSpPr>
        <p:spPr>
          <a:xfrm>
            <a:off x="548640" y="1280160"/>
            <a:ext cx="11091672" cy="16459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5"/>
          <p:cNvSpPr txBox="1"/>
          <p:nvPr/>
        </p:nvSpPr>
        <p:spPr>
          <a:xfrm>
            <a:off x="777240" y="146304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6FB7"/>
                </a:solidFill>
                <a:latin typeface="Microsoft YaHei"/>
              </a:rPr>
              <a:t>本周系统掌握 10 个 AI 核心概念，构成工具实践与自动化的知识底座（一句话释义）：</a:t>
            </a:r>
            <a:endParaRPr/>
          </a:p>
        </p:txBody>
      </p:sp>
      <p:sp>
        <p:nvSpPr>
          <p:cNvPr id="242" name="Rectangle 6"/>
          <p:cNvSpPr/>
          <p:nvPr/>
        </p:nvSpPr>
        <p:spPr>
          <a:xfrm>
            <a:off x="548640" y="1965960"/>
            <a:ext cx="2057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7"/>
          <p:cNvSpPr/>
          <p:nvPr/>
        </p:nvSpPr>
        <p:spPr>
          <a:xfrm>
            <a:off x="548640" y="1965960"/>
            <a:ext cx="2057400" cy="82296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TextBox 8"/>
          <p:cNvSpPr txBox="1"/>
          <p:nvPr/>
        </p:nvSpPr>
        <p:spPr>
          <a:xfrm>
            <a:off x="694944" y="2167128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Microsoft YaHei"/>
              </a:rPr>
              <a:t>LLM 大语言模型</a:t>
            </a:r>
            <a:endParaRPr/>
          </a:p>
        </p:txBody>
      </p:sp>
      <p:sp>
        <p:nvSpPr>
          <p:cNvPr id="245" name="TextBox 9"/>
          <p:cNvSpPr txBox="1"/>
          <p:nvPr/>
        </p:nvSpPr>
        <p:spPr>
          <a:xfrm>
            <a:off x="694944" y="2679191"/>
            <a:ext cx="176479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</a:rPr>
              <a:t>理解并生成自然语言的 AI 基础模型</a:t>
            </a:r>
            <a:endParaRPr/>
          </a:p>
        </p:txBody>
      </p:sp>
      <p:sp>
        <p:nvSpPr>
          <p:cNvPr id="246" name="Rectangle 10"/>
          <p:cNvSpPr/>
          <p:nvPr/>
        </p:nvSpPr>
        <p:spPr>
          <a:xfrm>
            <a:off x="2770632" y="1965960"/>
            <a:ext cx="2057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11"/>
          <p:cNvSpPr/>
          <p:nvPr/>
        </p:nvSpPr>
        <p:spPr>
          <a:xfrm>
            <a:off x="2770632" y="1965960"/>
            <a:ext cx="2057400" cy="82296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TextBox 12"/>
          <p:cNvSpPr txBox="1"/>
          <p:nvPr/>
        </p:nvSpPr>
        <p:spPr>
          <a:xfrm>
            <a:off x="2916936" y="2167128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Microsoft YaHei"/>
              </a:rPr>
              <a:t>Token</a:t>
            </a:r>
            <a:endParaRPr/>
          </a:p>
        </p:txBody>
      </p:sp>
      <p:sp>
        <p:nvSpPr>
          <p:cNvPr id="249" name="TextBox 13"/>
          <p:cNvSpPr txBox="1"/>
          <p:nvPr/>
        </p:nvSpPr>
        <p:spPr>
          <a:xfrm>
            <a:off x="2916936" y="2679191"/>
            <a:ext cx="176479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</a:rPr>
              <a:t>模型处理的最小文本单位，也决定计费</a:t>
            </a:r>
            <a:endParaRPr/>
          </a:p>
        </p:txBody>
      </p:sp>
      <p:sp>
        <p:nvSpPr>
          <p:cNvPr id="250" name="Rectangle 14"/>
          <p:cNvSpPr/>
          <p:nvPr/>
        </p:nvSpPr>
        <p:spPr>
          <a:xfrm>
            <a:off x="4992624" y="1965960"/>
            <a:ext cx="2057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Rectangle 15"/>
          <p:cNvSpPr/>
          <p:nvPr/>
        </p:nvSpPr>
        <p:spPr>
          <a:xfrm>
            <a:off x="4992624" y="1965960"/>
            <a:ext cx="2057400" cy="82296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TextBox 16"/>
          <p:cNvSpPr txBox="1"/>
          <p:nvPr/>
        </p:nvSpPr>
        <p:spPr>
          <a:xfrm>
            <a:off x="5138928" y="2167128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Microsoft YaHei"/>
              </a:rPr>
              <a:t>上下文窗口</a:t>
            </a:r>
            <a:endParaRPr/>
          </a:p>
        </p:txBody>
      </p:sp>
      <p:sp>
        <p:nvSpPr>
          <p:cNvPr id="253" name="TextBox 17"/>
          <p:cNvSpPr txBox="1"/>
          <p:nvPr/>
        </p:nvSpPr>
        <p:spPr>
          <a:xfrm>
            <a:off x="5138928" y="2679191"/>
            <a:ext cx="176479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</a:rPr>
              <a:t>模型单次能"记住"的最大文本量</a:t>
            </a:r>
            <a:endParaRPr/>
          </a:p>
        </p:txBody>
      </p:sp>
      <p:sp>
        <p:nvSpPr>
          <p:cNvPr id="254" name="Rectangle 18"/>
          <p:cNvSpPr/>
          <p:nvPr/>
        </p:nvSpPr>
        <p:spPr>
          <a:xfrm>
            <a:off x="7214616" y="1965960"/>
            <a:ext cx="2057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Rectangle 19"/>
          <p:cNvSpPr/>
          <p:nvPr/>
        </p:nvSpPr>
        <p:spPr>
          <a:xfrm>
            <a:off x="7214616" y="1965960"/>
            <a:ext cx="2057400" cy="82296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TextBox 20"/>
          <p:cNvSpPr txBox="1"/>
          <p:nvPr/>
        </p:nvSpPr>
        <p:spPr>
          <a:xfrm>
            <a:off x="7360919" y="2167128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Microsoft YaHei"/>
              </a:rPr>
              <a:t>幻觉</a:t>
            </a:r>
            <a:endParaRPr/>
          </a:p>
        </p:txBody>
      </p:sp>
      <p:sp>
        <p:nvSpPr>
          <p:cNvPr id="257" name="TextBox 21"/>
          <p:cNvSpPr txBox="1"/>
          <p:nvPr/>
        </p:nvSpPr>
        <p:spPr>
          <a:xfrm>
            <a:off x="7360919" y="2679191"/>
            <a:ext cx="176479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</a:rPr>
              <a:t>生成看似合理却错误的内容</a:t>
            </a:r>
            <a:endParaRPr/>
          </a:p>
        </p:txBody>
      </p:sp>
      <p:sp>
        <p:nvSpPr>
          <p:cNvPr id="258" name="Rectangle 22"/>
          <p:cNvSpPr/>
          <p:nvPr/>
        </p:nvSpPr>
        <p:spPr>
          <a:xfrm>
            <a:off x="9436608" y="1965960"/>
            <a:ext cx="2057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Rectangle 23"/>
          <p:cNvSpPr/>
          <p:nvPr/>
        </p:nvSpPr>
        <p:spPr>
          <a:xfrm>
            <a:off x="9436608" y="1965960"/>
            <a:ext cx="2057400" cy="82296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4"/>
          <p:cNvSpPr txBox="1"/>
          <p:nvPr/>
        </p:nvSpPr>
        <p:spPr>
          <a:xfrm>
            <a:off x="9582912" y="2167128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Microsoft YaHei"/>
              </a:rPr>
              <a:t>Agent 智能体</a:t>
            </a:r>
            <a:endParaRPr/>
          </a:p>
        </p:txBody>
      </p:sp>
      <p:sp>
        <p:nvSpPr>
          <p:cNvPr id="261" name="TextBox 25"/>
          <p:cNvSpPr txBox="1"/>
          <p:nvPr/>
        </p:nvSpPr>
        <p:spPr>
          <a:xfrm>
            <a:off x="9582912" y="2679191"/>
            <a:ext cx="176479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</a:rPr>
              <a:t>能推理、调用工具自主完成任务</a:t>
            </a:r>
            <a:endParaRPr/>
          </a:p>
        </p:txBody>
      </p:sp>
      <p:sp>
        <p:nvSpPr>
          <p:cNvPr id="262" name="Rectangle 26"/>
          <p:cNvSpPr/>
          <p:nvPr/>
        </p:nvSpPr>
        <p:spPr>
          <a:xfrm>
            <a:off x="548640" y="3977639"/>
            <a:ext cx="2057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Rectangle 27"/>
          <p:cNvSpPr/>
          <p:nvPr/>
        </p:nvSpPr>
        <p:spPr>
          <a:xfrm>
            <a:off x="548640" y="3977639"/>
            <a:ext cx="2057400" cy="82296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TextBox 28"/>
          <p:cNvSpPr txBox="1"/>
          <p:nvPr/>
        </p:nvSpPr>
        <p:spPr>
          <a:xfrm>
            <a:off x="694944" y="4178807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Microsoft YaHei"/>
              </a:rPr>
              <a:t>RAG 检索增强</a:t>
            </a:r>
            <a:endParaRPr/>
          </a:p>
        </p:txBody>
      </p:sp>
      <p:sp>
        <p:nvSpPr>
          <p:cNvPr id="265" name="TextBox 29"/>
          <p:cNvSpPr txBox="1"/>
          <p:nvPr/>
        </p:nvSpPr>
        <p:spPr>
          <a:xfrm>
            <a:off x="694944" y="4690872"/>
            <a:ext cx="176479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</a:rPr>
              <a:t>先检索资料再生成，抑制幻觉</a:t>
            </a:r>
            <a:endParaRPr/>
          </a:p>
        </p:txBody>
      </p:sp>
      <p:sp>
        <p:nvSpPr>
          <p:cNvPr id="266" name="Rectangle 30"/>
          <p:cNvSpPr/>
          <p:nvPr/>
        </p:nvSpPr>
        <p:spPr>
          <a:xfrm>
            <a:off x="2770632" y="3977639"/>
            <a:ext cx="2057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Rectangle 31"/>
          <p:cNvSpPr/>
          <p:nvPr/>
        </p:nvSpPr>
        <p:spPr>
          <a:xfrm>
            <a:off x="2770632" y="3977639"/>
            <a:ext cx="2057400" cy="82296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32"/>
          <p:cNvSpPr txBox="1"/>
          <p:nvPr/>
        </p:nvSpPr>
        <p:spPr>
          <a:xfrm>
            <a:off x="2916936" y="4178807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Microsoft YaHei"/>
              </a:rPr>
              <a:t>向量数据库</a:t>
            </a:r>
            <a:endParaRPr/>
          </a:p>
        </p:txBody>
      </p:sp>
      <p:sp>
        <p:nvSpPr>
          <p:cNvPr id="269" name="TextBox 33"/>
          <p:cNvSpPr txBox="1"/>
          <p:nvPr/>
        </p:nvSpPr>
        <p:spPr>
          <a:xfrm>
            <a:off x="2916936" y="4690872"/>
            <a:ext cx="176479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</a:rPr>
              <a:t>用语义向量存储与检索知识</a:t>
            </a:r>
            <a:endParaRPr/>
          </a:p>
        </p:txBody>
      </p:sp>
      <p:sp>
        <p:nvSpPr>
          <p:cNvPr id="270" name="Rectangle 34"/>
          <p:cNvSpPr/>
          <p:nvPr/>
        </p:nvSpPr>
        <p:spPr>
          <a:xfrm>
            <a:off x="4992624" y="3977639"/>
            <a:ext cx="2057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Rectangle 35"/>
          <p:cNvSpPr/>
          <p:nvPr/>
        </p:nvSpPr>
        <p:spPr>
          <a:xfrm>
            <a:off x="4992624" y="3977639"/>
            <a:ext cx="2057400" cy="82296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TextBox 36"/>
          <p:cNvSpPr txBox="1"/>
          <p:nvPr/>
        </p:nvSpPr>
        <p:spPr>
          <a:xfrm>
            <a:off x="5138928" y="4178807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Microsoft YaHei"/>
              </a:rPr>
              <a:t>MCP 协议</a:t>
            </a:r>
            <a:endParaRPr/>
          </a:p>
        </p:txBody>
      </p:sp>
      <p:sp>
        <p:nvSpPr>
          <p:cNvPr id="273" name="TextBox 37"/>
          <p:cNvSpPr txBox="1"/>
          <p:nvPr/>
        </p:nvSpPr>
        <p:spPr>
          <a:xfrm>
            <a:off x="5138928" y="4690872"/>
            <a:ext cx="176479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</a:rPr>
              <a:t>AI 工具统一通信标准，即插即用</a:t>
            </a:r>
            <a:endParaRPr/>
          </a:p>
        </p:txBody>
      </p:sp>
      <p:sp>
        <p:nvSpPr>
          <p:cNvPr id="274" name="Rectangle 38"/>
          <p:cNvSpPr/>
          <p:nvPr/>
        </p:nvSpPr>
        <p:spPr>
          <a:xfrm>
            <a:off x="7214616" y="3977639"/>
            <a:ext cx="2057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Rectangle 39"/>
          <p:cNvSpPr/>
          <p:nvPr/>
        </p:nvSpPr>
        <p:spPr>
          <a:xfrm>
            <a:off x="7214616" y="3977639"/>
            <a:ext cx="2057400" cy="82296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40"/>
          <p:cNvSpPr txBox="1"/>
          <p:nvPr/>
        </p:nvSpPr>
        <p:spPr>
          <a:xfrm>
            <a:off x="7360919" y="4178807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Microsoft YaHei"/>
              </a:rPr>
              <a:t>Prompt 工程</a:t>
            </a:r>
            <a:endParaRPr/>
          </a:p>
        </p:txBody>
      </p:sp>
      <p:sp>
        <p:nvSpPr>
          <p:cNvPr id="277" name="TextBox 41"/>
          <p:cNvSpPr txBox="1"/>
          <p:nvPr/>
        </p:nvSpPr>
        <p:spPr>
          <a:xfrm>
            <a:off x="7360919" y="4690872"/>
            <a:ext cx="176479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</a:rPr>
              <a:t>用提示词引导模型更准地输出</a:t>
            </a:r>
            <a:endParaRPr/>
          </a:p>
        </p:txBody>
      </p:sp>
      <p:sp>
        <p:nvSpPr>
          <p:cNvPr id="278" name="Rectangle 42"/>
          <p:cNvSpPr/>
          <p:nvPr/>
        </p:nvSpPr>
        <p:spPr>
          <a:xfrm>
            <a:off x="9436608" y="3977639"/>
            <a:ext cx="2057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Rectangle 43"/>
          <p:cNvSpPr/>
          <p:nvPr/>
        </p:nvSpPr>
        <p:spPr>
          <a:xfrm>
            <a:off x="9436608" y="3977639"/>
            <a:ext cx="2057400" cy="82296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TextBox 44"/>
          <p:cNvSpPr txBox="1"/>
          <p:nvPr/>
        </p:nvSpPr>
        <p:spPr>
          <a:xfrm>
            <a:off x="9582912" y="4178807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Microsoft YaHei"/>
              </a:rPr>
              <a:t>Fine-tuning 微调</a:t>
            </a:r>
            <a:endParaRPr/>
          </a:p>
        </p:txBody>
      </p:sp>
      <p:sp>
        <p:nvSpPr>
          <p:cNvPr id="281" name="TextBox 45"/>
          <p:cNvSpPr txBox="1"/>
          <p:nvPr/>
        </p:nvSpPr>
        <p:spPr>
          <a:xfrm>
            <a:off x="9582912" y="4690872"/>
            <a:ext cx="176479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</a:rPr>
              <a:t>用专属数据定制模型能力</a:t>
            </a:r>
            <a:endParaRPr/>
          </a:p>
        </p:txBody>
      </p:sp>
      <p:sp>
        <p:nvSpPr>
          <p:cNvPr id="282" name="TextBox 46"/>
          <p:cNvSpPr txBox="1"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</a:rPr>
              <a:t>第一周项目汇报 · AI 工具上手与 WorkBuddy 实践</a:t>
            </a:r>
            <a:endParaRPr/>
          </a:p>
        </p:txBody>
      </p:sp>
      <p:sp>
        <p:nvSpPr>
          <p:cNvPr id="283" name="TextBox 47"/>
          <p:cNvSpPr txBox="1"/>
          <p:nvPr/>
        </p:nvSpPr>
        <p:spPr>
          <a:xfrm>
            <a:off x="8503920" y="6437376"/>
            <a:ext cx="3136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</a:rPr>
              <a:t>07 / 17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2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Rectangle 1"/>
          <p:cNvSpPr/>
          <p:nvPr/>
        </p:nvSpPr>
        <p:spPr>
          <a:xfrm>
            <a:off x="548640" y="502920"/>
            <a:ext cx="118872" cy="566928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TextBox 2"/>
          <p:cNvSpPr txBox="1"/>
          <p:nvPr/>
        </p:nvSpPr>
        <p:spPr>
          <a:xfrm>
            <a:off x="777240" y="420624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icrosoft YaHei"/>
              </a:rPr>
              <a:t>成果二：WorkBuddy 自动化工作流</a:t>
            </a:r>
            <a:endParaRPr/>
          </a:p>
        </p:txBody>
      </p:sp>
      <p:sp>
        <p:nvSpPr>
          <p:cNvPr id="287" name="TextBox 3"/>
          <p:cNvSpPr txBox="1"/>
          <p:nvPr/>
        </p:nvSpPr>
        <p:spPr>
          <a:xfrm>
            <a:off x="795528" y="107899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6FB7"/>
                </a:solidFill>
                <a:latin typeface="Microsoft YaHei"/>
              </a:rPr>
              <a:t>DELIVERABLE 2 · AUTOMATION</a:t>
            </a:r>
            <a:endParaRPr/>
          </a:p>
        </p:txBody>
      </p:sp>
      <p:sp>
        <p:nvSpPr>
          <p:cNvPr id="288" name="Rectangle 4"/>
          <p:cNvSpPr/>
          <p:nvPr/>
        </p:nvSpPr>
        <p:spPr>
          <a:xfrm>
            <a:off x="548640" y="1280160"/>
            <a:ext cx="11091672" cy="16459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Rectangle 5"/>
          <p:cNvSpPr/>
          <p:nvPr/>
        </p:nvSpPr>
        <p:spPr>
          <a:xfrm>
            <a:off x="548640" y="2286000"/>
            <a:ext cx="2468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Rectangle 6"/>
          <p:cNvSpPr/>
          <p:nvPr/>
        </p:nvSpPr>
        <p:spPr>
          <a:xfrm>
            <a:off x="548640" y="2286000"/>
            <a:ext cx="2468880" cy="9144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7"/>
          <p:cNvSpPr txBox="1"/>
          <p:nvPr/>
        </p:nvSpPr>
        <p:spPr>
          <a:xfrm>
            <a:off x="685800" y="2487168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6FB7"/>
                </a:solidFill>
                <a:latin typeface="Microsoft YaHei"/>
              </a:rPr>
              <a:t>步骤 1</a:t>
            </a:r>
            <a:endParaRPr/>
          </a:p>
        </p:txBody>
      </p:sp>
      <p:sp>
        <p:nvSpPr>
          <p:cNvPr id="292" name="TextBox 8"/>
          <p:cNvSpPr txBox="1"/>
          <p:nvPr/>
        </p:nvSpPr>
        <p:spPr>
          <a:xfrm>
            <a:off x="685800" y="2852928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原始 MD 文件</a:t>
            </a:r>
            <a:endParaRPr/>
          </a:p>
        </p:txBody>
      </p:sp>
      <p:sp>
        <p:nvSpPr>
          <p:cNvPr id="293" name="TextBox 9"/>
          <p:cNvSpPr txBox="1"/>
          <p:nvPr/>
        </p:nvSpPr>
        <p:spPr>
          <a:xfrm>
            <a:off x="685800" y="3310128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</a:rPr>
              <a:t>Obsidian 知识库
全部 .md 文档</a:t>
            </a:r>
            <a:endParaRPr/>
          </a:p>
        </p:txBody>
      </p:sp>
      <p:sp>
        <p:nvSpPr>
          <p:cNvPr id="294" name="TextBox 10"/>
          <p:cNvSpPr txBox="1"/>
          <p:nvPr/>
        </p:nvSpPr>
        <p:spPr>
          <a:xfrm>
            <a:off x="2999232" y="2286000"/>
            <a:ext cx="411480" cy="1737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icrosoft YaHei"/>
              </a:rPr>
              <a:t>→</a:t>
            </a:r>
            <a:endParaRPr/>
          </a:p>
        </p:txBody>
      </p:sp>
      <p:sp>
        <p:nvSpPr>
          <p:cNvPr id="295" name="Rectangle 11"/>
          <p:cNvSpPr/>
          <p:nvPr/>
        </p:nvSpPr>
        <p:spPr>
          <a:xfrm>
            <a:off x="3246120" y="2286000"/>
            <a:ext cx="2468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Rectangle 12"/>
          <p:cNvSpPr/>
          <p:nvPr/>
        </p:nvSpPr>
        <p:spPr>
          <a:xfrm>
            <a:off x="3246120" y="2286000"/>
            <a:ext cx="2468880" cy="9144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TextBox 13"/>
          <p:cNvSpPr txBox="1"/>
          <p:nvPr/>
        </p:nvSpPr>
        <p:spPr>
          <a:xfrm>
            <a:off x="3383279" y="2487168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A93B"/>
                </a:solidFill>
                <a:latin typeface="Microsoft YaHei"/>
              </a:rPr>
              <a:t>步骤 2</a:t>
            </a:r>
            <a:endParaRPr/>
          </a:p>
        </p:txBody>
      </p:sp>
      <p:sp>
        <p:nvSpPr>
          <p:cNvPr id="298" name="TextBox 14"/>
          <p:cNvSpPr txBox="1"/>
          <p:nvPr/>
        </p:nvSpPr>
        <p:spPr>
          <a:xfrm>
            <a:off x="3383279" y="2852928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扫描与统计</a:t>
            </a:r>
            <a:endParaRPr/>
          </a:p>
        </p:txBody>
      </p:sp>
      <p:sp>
        <p:nvSpPr>
          <p:cNvPr id="299" name="TextBox 15"/>
          <p:cNvSpPr txBox="1"/>
          <p:nvPr/>
        </p:nvSpPr>
        <p:spPr>
          <a:xfrm>
            <a:off x="3383279" y="3310128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</a:rPr>
              <a:t>目录文件数 / 总字数
Wiki 链接 / 标签分布</a:t>
            </a:r>
            <a:endParaRPr/>
          </a:p>
        </p:txBody>
      </p:sp>
      <p:sp>
        <p:nvSpPr>
          <p:cNvPr id="300" name="TextBox 16"/>
          <p:cNvSpPr txBox="1"/>
          <p:nvPr/>
        </p:nvSpPr>
        <p:spPr>
          <a:xfrm>
            <a:off x="5696712" y="2286000"/>
            <a:ext cx="411480" cy="1737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icrosoft YaHei"/>
              </a:rPr>
              <a:t>→</a:t>
            </a:r>
            <a:endParaRPr/>
          </a:p>
        </p:txBody>
      </p:sp>
      <p:sp>
        <p:nvSpPr>
          <p:cNvPr id="301" name="Rectangle 17"/>
          <p:cNvSpPr/>
          <p:nvPr/>
        </p:nvSpPr>
        <p:spPr>
          <a:xfrm>
            <a:off x="5943600" y="2286000"/>
            <a:ext cx="2468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Rectangle 18"/>
          <p:cNvSpPr/>
          <p:nvPr/>
        </p:nvSpPr>
        <p:spPr>
          <a:xfrm>
            <a:off x="5943600" y="2286000"/>
            <a:ext cx="2468880" cy="9144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19"/>
          <p:cNvSpPr txBox="1"/>
          <p:nvPr/>
        </p:nvSpPr>
        <p:spPr>
          <a:xfrm>
            <a:off x="6080760" y="2487168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6FB7"/>
                </a:solidFill>
                <a:latin typeface="Microsoft YaHei"/>
              </a:rPr>
              <a:t>步骤 3</a:t>
            </a:r>
            <a:endParaRPr/>
          </a:p>
        </p:txBody>
      </p:sp>
      <p:sp>
        <p:nvSpPr>
          <p:cNvPr id="304" name="TextBox 20"/>
          <p:cNvSpPr txBox="1"/>
          <p:nvPr/>
        </p:nvSpPr>
        <p:spPr>
          <a:xfrm>
            <a:off x="6080760" y="2852928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HTML 可视化报告</a:t>
            </a:r>
            <a:endParaRPr/>
          </a:p>
        </p:txBody>
      </p:sp>
      <p:sp>
        <p:nvSpPr>
          <p:cNvPr id="305" name="TextBox 21"/>
          <p:cNvSpPr txBox="1"/>
          <p:nvPr/>
        </p:nvSpPr>
        <p:spPr>
          <a:xfrm>
            <a:off x="6080760" y="3310128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</a:rPr>
              <a:t>图谱概览 / 笔记热度
双链统计等关键指标</a:t>
            </a:r>
            <a:endParaRPr/>
          </a:p>
        </p:txBody>
      </p:sp>
      <p:sp>
        <p:nvSpPr>
          <p:cNvPr id="306" name="TextBox 22"/>
          <p:cNvSpPr txBox="1"/>
          <p:nvPr/>
        </p:nvSpPr>
        <p:spPr>
          <a:xfrm>
            <a:off x="8394192" y="2286000"/>
            <a:ext cx="411480" cy="1737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icrosoft YaHei"/>
              </a:rPr>
              <a:t>→</a:t>
            </a:r>
            <a:endParaRPr/>
          </a:p>
        </p:txBody>
      </p:sp>
      <p:sp>
        <p:nvSpPr>
          <p:cNvPr id="307" name="Rectangle 23"/>
          <p:cNvSpPr/>
          <p:nvPr/>
        </p:nvSpPr>
        <p:spPr>
          <a:xfrm>
            <a:off x="8641080" y="2286000"/>
            <a:ext cx="2468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Rectangle 24"/>
          <p:cNvSpPr/>
          <p:nvPr/>
        </p:nvSpPr>
        <p:spPr>
          <a:xfrm>
            <a:off x="8641080" y="2286000"/>
            <a:ext cx="2468880" cy="9144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25"/>
          <p:cNvSpPr txBox="1"/>
          <p:nvPr/>
        </p:nvSpPr>
        <p:spPr>
          <a:xfrm>
            <a:off x="8778240" y="2487168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A93B"/>
                </a:solidFill>
                <a:latin typeface="Microsoft YaHei"/>
              </a:rPr>
              <a:t>步骤 4</a:t>
            </a:r>
            <a:endParaRPr/>
          </a:p>
        </p:txBody>
      </p:sp>
      <p:sp>
        <p:nvSpPr>
          <p:cNvPr id="310" name="TextBox 26"/>
          <p:cNvSpPr txBox="1"/>
          <p:nvPr/>
        </p:nvSpPr>
        <p:spPr>
          <a:xfrm>
            <a:off x="8778240" y="2852928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每月 1 号自动生成</a:t>
            </a:r>
            <a:endParaRPr/>
          </a:p>
        </p:txBody>
      </p:sp>
      <p:sp>
        <p:nvSpPr>
          <p:cNvPr id="311" name="TextBox 27"/>
          <p:cNvSpPr txBox="1"/>
          <p:nvPr/>
        </p:nvSpPr>
        <p:spPr>
          <a:xfrm>
            <a:off x="8778240" y="3310128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</a:rPr>
              <a:t>定时调度
零人工复盘</a:t>
            </a:r>
            <a:endParaRPr/>
          </a:p>
        </p:txBody>
      </p:sp>
      <p:sp>
        <p:nvSpPr>
          <p:cNvPr id="312" name="Rectangle 28"/>
          <p:cNvSpPr/>
          <p:nvPr/>
        </p:nvSpPr>
        <p:spPr>
          <a:xfrm>
            <a:off x="548640" y="4434840"/>
            <a:ext cx="11091672" cy="137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TextBox 29"/>
          <p:cNvSpPr txBox="1"/>
          <p:nvPr/>
        </p:nvSpPr>
        <p:spPr>
          <a:xfrm>
            <a:off x="822960" y="457200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2A93B"/>
                </a:solidFill>
                <a:latin typeface="Microsoft YaHei"/>
              </a:rPr>
              <a:t>业务价值</a:t>
            </a:r>
            <a:endParaRPr/>
          </a:p>
        </p:txBody>
      </p:sp>
      <p:sp>
        <p:nvSpPr>
          <p:cNvPr id="314" name="TextBox 30"/>
          <p:cNvSpPr txBox="1"/>
          <p:nvPr/>
        </p:nvSpPr>
        <p:spPr>
          <a:xfrm>
            <a:off x="822960" y="502920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• 知识复盘从手动整理升级为自动化流水线，显著降低成本；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• 积累"图谱 + 热度 + 双链"量化指标，为数据驱动的知识管理打底。</a:t>
            </a:r>
            <a:endParaRPr/>
          </a:p>
        </p:txBody>
      </p:sp>
      <p:sp>
        <p:nvSpPr>
          <p:cNvPr id="315" name="TextBox 31"/>
          <p:cNvSpPr txBox="1"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</a:rPr>
              <a:t>第一周项目汇报 · AI 工具上手与 WorkBuddy 实践</a:t>
            </a:r>
            <a:endParaRPr/>
          </a:p>
        </p:txBody>
      </p:sp>
      <p:sp>
        <p:nvSpPr>
          <p:cNvPr id="316" name="TextBox 32"/>
          <p:cNvSpPr txBox="1"/>
          <p:nvPr/>
        </p:nvSpPr>
        <p:spPr>
          <a:xfrm>
            <a:off x="8503920" y="6437376"/>
            <a:ext cx="3136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</a:rPr>
              <a:t>07 / 17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3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Rectangle 1"/>
          <p:cNvSpPr/>
          <p:nvPr/>
        </p:nvSpPr>
        <p:spPr>
          <a:xfrm>
            <a:off x="548640" y="502920"/>
            <a:ext cx="118872" cy="566928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TextBox 2"/>
          <p:cNvSpPr txBox="1"/>
          <p:nvPr/>
        </p:nvSpPr>
        <p:spPr>
          <a:xfrm>
            <a:off x="777240" y="420624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icrosoft YaHei"/>
              </a:rPr>
              <a:t>成果三：AI 工具实操与对比</a:t>
            </a:r>
            <a:endParaRPr/>
          </a:p>
        </p:txBody>
      </p:sp>
      <p:sp>
        <p:nvSpPr>
          <p:cNvPr id="320" name="TextBox 3"/>
          <p:cNvSpPr txBox="1"/>
          <p:nvPr/>
        </p:nvSpPr>
        <p:spPr>
          <a:xfrm>
            <a:off x="795528" y="107899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6FB7"/>
                </a:solidFill>
                <a:latin typeface="Microsoft YaHei"/>
              </a:rPr>
              <a:t>DELIVERABLE 3 · TOOLS</a:t>
            </a:r>
            <a:endParaRPr/>
          </a:p>
        </p:txBody>
      </p:sp>
      <p:sp>
        <p:nvSpPr>
          <p:cNvPr id="321" name="Rectangle 4"/>
          <p:cNvSpPr/>
          <p:nvPr/>
        </p:nvSpPr>
        <p:spPr>
          <a:xfrm>
            <a:off x="548640" y="1280160"/>
            <a:ext cx="11091672" cy="16459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Rectangle 5"/>
          <p:cNvSpPr/>
          <p:nvPr/>
        </p:nvSpPr>
        <p:spPr>
          <a:xfrm>
            <a:off x="548640" y="1691640"/>
            <a:ext cx="5394960" cy="4251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Rectangle 6"/>
          <p:cNvSpPr/>
          <p:nvPr/>
        </p:nvSpPr>
        <p:spPr>
          <a:xfrm>
            <a:off x="548640" y="1691640"/>
            <a:ext cx="109728" cy="425196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TextBox 7"/>
          <p:cNvSpPr txBox="1"/>
          <p:nvPr/>
        </p:nvSpPr>
        <p:spPr>
          <a:xfrm>
            <a:off x="868680" y="1874519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3A5F"/>
                </a:solidFill>
                <a:latin typeface="Microsoft YaHei"/>
              </a:rPr>
              <a:t>编码智能体实测</a:t>
            </a:r>
            <a:endParaRPr/>
          </a:p>
        </p:txBody>
      </p:sp>
      <p:sp>
        <p:nvSpPr>
          <p:cNvPr id="325" name="TextBox 8"/>
          <p:cNvSpPr txBox="1"/>
          <p:nvPr/>
        </p:nvSpPr>
        <p:spPr>
          <a:xfrm>
            <a:off x="868680" y="2377440"/>
            <a:ext cx="493776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232A33"/>
                </a:solidFill>
                <a:latin typeface="Microsoft YaHei"/>
              </a:rPr>
              <a:t>• Claude Code：安装与工程化协作实测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232A33"/>
                </a:solidFill>
                <a:latin typeface="Microsoft YaHei"/>
              </a:rPr>
              <a:t>• Codex（OpenAI CLI Agent）概览与对比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232A33"/>
                </a:solidFill>
                <a:latin typeface="Microsoft YaHei"/>
              </a:rPr>
              <a:t>• 完成 AI 助手横向对比：Claude / ChatGPT / Gemini / DeepSeek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232A33"/>
                </a:solidFill>
                <a:latin typeface="Microsoft YaHei"/>
              </a:rPr>
              <a:t>• 产出可运行 Demo：小恐龙跑酷游戏（三档速度）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32A33"/>
                </a:solidFill>
                <a:latin typeface="Microsoft YaHei"/>
              </a:rPr>
              <a:t>• 验证"人提需求 + Agent 协作开发"的可用性</a:t>
            </a:r>
            <a:endParaRPr/>
          </a:p>
        </p:txBody>
      </p:sp>
      <p:sp>
        <p:nvSpPr>
          <p:cNvPr id="326" name="Rectangle 9"/>
          <p:cNvSpPr/>
          <p:nvPr/>
        </p:nvSpPr>
        <p:spPr>
          <a:xfrm>
            <a:off x="6126480" y="1691640"/>
            <a:ext cx="5513832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Rectangle 10"/>
          <p:cNvSpPr/>
          <p:nvPr/>
        </p:nvSpPr>
        <p:spPr>
          <a:xfrm>
            <a:off x="6126480" y="1691640"/>
            <a:ext cx="5513832" cy="9144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8" name="TextBox 11"/>
          <p:cNvSpPr txBox="1"/>
          <p:nvPr/>
        </p:nvSpPr>
        <p:spPr>
          <a:xfrm>
            <a:off x="6400800" y="1874519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3A5F"/>
                </a:solidFill>
                <a:latin typeface="Microsoft YaHei"/>
              </a:rPr>
              <a:t>关键结论</a:t>
            </a:r>
            <a:endParaRPr/>
          </a:p>
        </p:txBody>
      </p:sp>
      <p:sp>
        <p:nvSpPr>
          <p:cNvPr id="329" name="TextBox 12"/>
          <p:cNvSpPr txBox="1"/>
          <p:nvPr/>
        </p:nvSpPr>
        <p:spPr>
          <a:xfrm>
            <a:off x="6400800" y="2377440"/>
            <a:ext cx="502920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232A33"/>
                </a:solidFill>
                <a:latin typeface="Microsoft YaHei"/>
              </a:rPr>
              <a:t>• 各助手定位不同：Claude 工程协作强，Gemini 长上下文，DeepSeek 性价比高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232A33"/>
                </a:solidFill>
                <a:latin typeface="Microsoft YaHei"/>
              </a:rPr>
              <a:t>• 编码 Agent 适合"脚手架 + 迭代"，关键在需求拆解与验收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232A33"/>
                </a:solidFill>
                <a:latin typeface="Microsoft YaHei"/>
              </a:rPr>
              <a:t>• WorkBuddy 优势在"多模块 + 连接器 + 工作流"一体化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32A33"/>
                </a:solidFill>
                <a:latin typeface="Microsoft YaHei"/>
              </a:rPr>
              <a:t>• 选择建议：按任务类型组合使用，而非单一依赖</a:t>
            </a:r>
            <a:endParaRPr/>
          </a:p>
        </p:txBody>
      </p:sp>
      <p:sp>
        <p:nvSpPr>
          <p:cNvPr id="330" name="TextBox 13"/>
          <p:cNvSpPr txBox="1"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</a:rPr>
              <a:t>第一周项目汇报 · AI 工具上手与 WorkBuddy 实践</a:t>
            </a:r>
            <a:endParaRPr/>
          </a:p>
        </p:txBody>
      </p:sp>
      <p:sp>
        <p:nvSpPr>
          <p:cNvPr id="331" name="TextBox 14"/>
          <p:cNvSpPr txBox="1"/>
          <p:nvPr/>
        </p:nvSpPr>
        <p:spPr>
          <a:xfrm>
            <a:off x="8503920" y="6437376"/>
            <a:ext cx="3136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</a:rPr>
              <a:t>09 / 17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3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Rectangle 1"/>
          <p:cNvSpPr/>
          <p:nvPr/>
        </p:nvSpPr>
        <p:spPr>
          <a:xfrm>
            <a:off x="548640" y="502920"/>
            <a:ext cx="118872" cy="566928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TextBox 2"/>
          <p:cNvSpPr txBox="1"/>
          <p:nvPr/>
        </p:nvSpPr>
        <p:spPr>
          <a:xfrm>
            <a:off x="777240" y="420624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icrosoft YaHei"/>
              </a:rPr>
              <a:t>关键数据看板</a:t>
            </a:r>
            <a:endParaRPr/>
          </a:p>
        </p:txBody>
      </p:sp>
      <p:sp>
        <p:nvSpPr>
          <p:cNvPr id="335" name="TextBox 3"/>
          <p:cNvSpPr txBox="1"/>
          <p:nvPr/>
        </p:nvSpPr>
        <p:spPr>
          <a:xfrm>
            <a:off x="795528" y="107899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6FB7"/>
                </a:solidFill>
                <a:latin typeface="Microsoft YaHei"/>
              </a:rPr>
              <a:t>KEY METRICS</a:t>
            </a:r>
            <a:endParaRPr/>
          </a:p>
        </p:txBody>
      </p:sp>
      <p:sp>
        <p:nvSpPr>
          <p:cNvPr id="336" name="Rectangle 4"/>
          <p:cNvSpPr/>
          <p:nvPr/>
        </p:nvSpPr>
        <p:spPr>
          <a:xfrm>
            <a:off x="548640" y="1280160"/>
            <a:ext cx="11091672" cy="16459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Rectangle 5"/>
          <p:cNvSpPr/>
          <p:nvPr/>
        </p:nvSpPr>
        <p:spPr>
          <a:xfrm>
            <a:off x="548640" y="1691640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Rectangle 6"/>
          <p:cNvSpPr/>
          <p:nvPr/>
        </p:nvSpPr>
        <p:spPr>
          <a:xfrm>
            <a:off x="548640" y="1691640"/>
            <a:ext cx="2606040" cy="9144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TextBox 7"/>
          <p:cNvSpPr txBox="1"/>
          <p:nvPr/>
        </p:nvSpPr>
        <p:spPr>
          <a:xfrm>
            <a:off x="548640" y="196596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2E6FB7"/>
                </a:solidFill>
                <a:latin typeface="Microsoft YaHei"/>
              </a:rPr>
              <a:t>25</a:t>
            </a:r>
            <a:endParaRPr/>
          </a:p>
        </p:txBody>
      </p:sp>
      <p:sp>
        <p:nvSpPr>
          <p:cNvPr id="340" name="TextBox 8"/>
          <p:cNvSpPr txBox="1"/>
          <p:nvPr/>
        </p:nvSpPr>
        <p:spPr>
          <a:xfrm>
            <a:off x="658368" y="2807208"/>
            <a:ext cx="23865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Microsoft YaHei"/>
              </a:rPr>
              <a:t>累计笔记页数</a:t>
            </a:r>
            <a:endParaRPr/>
          </a:p>
        </p:txBody>
      </p:sp>
      <p:sp>
        <p:nvSpPr>
          <p:cNvPr id="341" name="TextBox 9"/>
          <p:cNvSpPr txBox="1"/>
          <p:nvPr/>
        </p:nvSpPr>
        <p:spPr>
          <a:xfrm>
            <a:off x="658368" y="3209544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472"/>
                </a:solidFill>
                <a:latin typeface="Microsoft YaHei"/>
              </a:rPr>
              <a:t>结构化沉淀</a:t>
            </a:r>
            <a:endParaRPr/>
          </a:p>
        </p:txBody>
      </p:sp>
      <p:sp>
        <p:nvSpPr>
          <p:cNvPr id="342" name="Rectangle 10"/>
          <p:cNvSpPr/>
          <p:nvPr/>
        </p:nvSpPr>
        <p:spPr>
          <a:xfrm>
            <a:off x="3337560" y="1691640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Rectangle 11"/>
          <p:cNvSpPr/>
          <p:nvPr/>
        </p:nvSpPr>
        <p:spPr>
          <a:xfrm>
            <a:off x="3337560" y="1691640"/>
            <a:ext cx="2606040" cy="9144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TextBox 12"/>
          <p:cNvSpPr txBox="1"/>
          <p:nvPr/>
        </p:nvSpPr>
        <p:spPr>
          <a:xfrm>
            <a:off x="3337560" y="196596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2A93B"/>
                </a:solidFill>
                <a:latin typeface="Microsoft YaHei"/>
              </a:rPr>
              <a:t>10</a:t>
            </a:r>
            <a:endParaRPr/>
          </a:p>
        </p:txBody>
      </p:sp>
      <p:sp>
        <p:nvSpPr>
          <p:cNvPr id="345" name="TextBox 13"/>
          <p:cNvSpPr txBox="1"/>
          <p:nvPr/>
        </p:nvSpPr>
        <p:spPr>
          <a:xfrm>
            <a:off x="3447288" y="2807208"/>
            <a:ext cx="23865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Microsoft YaHei"/>
              </a:rPr>
              <a:t>AI 概念覆盖</a:t>
            </a:r>
            <a:endParaRPr/>
          </a:p>
        </p:txBody>
      </p:sp>
      <p:sp>
        <p:nvSpPr>
          <p:cNvPr id="346" name="TextBox 14"/>
          <p:cNvSpPr txBox="1"/>
          <p:nvPr/>
        </p:nvSpPr>
        <p:spPr>
          <a:xfrm>
            <a:off x="3447288" y="3209544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472"/>
                </a:solidFill>
                <a:latin typeface="Microsoft YaHei"/>
              </a:rPr>
              <a:t>体系主干</a:t>
            </a:r>
            <a:endParaRPr/>
          </a:p>
        </p:txBody>
      </p:sp>
      <p:sp>
        <p:nvSpPr>
          <p:cNvPr id="347" name="Rectangle 15"/>
          <p:cNvSpPr/>
          <p:nvPr/>
        </p:nvSpPr>
        <p:spPr>
          <a:xfrm>
            <a:off x="6126480" y="1691640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Rectangle 16"/>
          <p:cNvSpPr/>
          <p:nvPr/>
        </p:nvSpPr>
        <p:spPr>
          <a:xfrm>
            <a:off x="6126480" y="1691640"/>
            <a:ext cx="2606040" cy="9144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TextBox 17"/>
          <p:cNvSpPr txBox="1"/>
          <p:nvPr/>
        </p:nvSpPr>
        <p:spPr>
          <a:xfrm>
            <a:off x="6126480" y="196596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2E6FB7"/>
                </a:solidFill>
                <a:latin typeface="Microsoft YaHei"/>
              </a:rPr>
              <a:t>5+</a:t>
            </a:r>
            <a:endParaRPr/>
          </a:p>
        </p:txBody>
      </p:sp>
      <p:sp>
        <p:nvSpPr>
          <p:cNvPr id="350" name="TextBox 18"/>
          <p:cNvSpPr txBox="1"/>
          <p:nvPr/>
        </p:nvSpPr>
        <p:spPr>
          <a:xfrm>
            <a:off x="6236208" y="2807208"/>
            <a:ext cx="23865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Microsoft YaHei"/>
              </a:rPr>
              <a:t>工具实操类</a:t>
            </a:r>
            <a:endParaRPr/>
          </a:p>
        </p:txBody>
      </p:sp>
      <p:sp>
        <p:nvSpPr>
          <p:cNvPr id="351" name="TextBox 19"/>
          <p:cNvSpPr txBox="1"/>
          <p:nvPr/>
        </p:nvSpPr>
        <p:spPr>
          <a:xfrm>
            <a:off x="6236208" y="3209544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472"/>
                </a:solidFill>
                <a:latin typeface="Microsoft YaHei"/>
              </a:rPr>
              <a:t>含编码 Agent</a:t>
            </a:r>
            <a:endParaRPr/>
          </a:p>
        </p:txBody>
      </p:sp>
      <p:sp>
        <p:nvSpPr>
          <p:cNvPr id="352" name="Rectangle 20"/>
          <p:cNvSpPr/>
          <p:nvPr/>
        </p:nvSpPr>
        <p:spPr>
          <a:xfrm>
            <a:off x="8915400" y="1691640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Rectangle 21"/>
          <p:cNvSpPr/>
          <p:nvPr/>
        </p:nvSpPr>
        <p:spPr>
          <a:xfrm>
            <a:off x="8915400" y="1691640"/>
            <a:ext cx="2606040" cy="9144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TextBox 22"/>
          <p:cNvSpPr txBox="1"/>
          <p:nvPr/>
        </p:nvSpPr>
        <p:spPr>
          <a:xfrm>
            <a:off x="8915400" y="196596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2A93B"/>
                </a:solidFill>
                <a:latin typeface="Microsoft YaHei"/>
              </a:rPr>
              <a:t>1</a:t>
            </a:r>
            <a:endParaRPr/>
          </a:p>
        </p:txBody>
      </p:sp>
      <p:sp>
        <p:nvSpPr>
          <p:cNvPr id="355" name="TextBox 23"/>
          <p:cNvSpPr txBox="1"/>
          <p:nvPr/>
        </p:nvSpPr>
        <p:spPr>
          <a:xfrm>
            <a:off x="9025128" y="2807208"/>
            <a:ext cx="23865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Microsoft YaHei"/>
              </a:rPr>
              <a:t>自动化工作流</a:t>
            </a:r>
            <a:endParaRPr/>
          </a:p>
        </p:txBody>
      </p:sp>
      <p:sp>
        <p:nvSpPr>
          <p:cNvPr id="356" name="TextBox 24"/>
          <p:cNvSpPr txBox="1"/>
          <p:nvPr/>
        </p:nvSpPr>
        <p:spPr>
          <a:xfrm>
            <a:off x="9025128" y="3209544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472"/>
                </a:solidFill>
                <a:latin typeface="Microsoft YaHei"/>
              </a:rPr>
              <a:t>月级调度</a:t>
            </a:r>
            <a:endParaRPr/>
          </a:p>
        </p:txBody>
      </p:sp>
      <p:sp>
        <p:nvSpPr>
          <p:cNvPr id="357" name="Rectangle 25"/>
          <p:cNvSpPr/>
          <p:nvPr/>
        </p:nvSpPr>
        <p:spPr>
          <a:xfrm>
            <a:off x="548640" y="3703320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Rectangle 26"/>
          <p:cNvSpPr/>
          <p:nvPr/>
        </p:nvSpPr>
        <p:spPr>
          <a:xfrm>
            <a:off x="548640" y="3703320"/>
            <a:ext cx="2606040" cy="9144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TextBox 27"/>
          <p:cNvSpPr txBox="1"/>
          <p:nvPr/>
        </p:nvSpPr>
        <p:spPr>
          <a:xfrm>
            <a:off x="548640" y="3977639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2E6FB7"/>
                </a:solidFill>
                <a:latin typeface="Microsoft YaHei"/>
              </a:rPr>
              <a:t>6</a:t>
            </a:r>
            <a:endParaRPr/>
          </a:p>
        </p:txBody>
      </p:sp>
      <p:sp>
        <p:nvSpPr>
          <p:cNvPr id="360" name="TextBox 28"/>
          <p:cNvSpPr txBox="1"/>
          <p:nvPr/>
        </p:nvSpPr>
        <p:spPr>
          <a:xfrm>
            <a:off x="658368" y="4818888"/>
            <a:ext cx="23865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Microsoft YaHei"/>
              </a:rPr>
              <a:t>核心枢纽入链</a:t>
            </a:r>
            <a:endParaRPr/>
          </a:p>
        </p:txBody>
      </p:sp>
      <p:sp>
        <p:nvSpPr>
          <p:cNvPr id="361" name="TextBox 29"/>
          <p:cNvSpPr txBox="1"/>
          <p:nvPr/>
        </p:nvSpPr>
        <p:spPr>
          <a:xfrm>
            <a:off x="658368" y="5221224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472"/>
                </a:solidFill>
                <a:latin typeface="Microsoft YaHei"/>
              </a:rPr>
              <a:t>RAG 页面</a:t>
            </a:r>
            <a:endParaRPr/>
          </a:p>
        </p:txBody>
      </p:sp>
      <p:sp>
        <p:nvSpPr>
          <p:cNvPr id="362" name="Rectangle 30"/>
          <p:cNvSpPr/>
          <p:nvPr/>
        </p:nvSpPr>
        <p:spPr>
          <a:xfrm>
            <a:off x="3337560" y="3703320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Rectangle 31"/>
          <p:cNvSpPr/>
          <p:nvPr/>
        </p:nvSpPr>
        <p:spPr>
          <a:xfrm>
            <a:off x="3337560" y="3703320"/>
            <a:ext cx="2606040" cy="9144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4" name="TextBox 32"/>
          <p:cNvSpPr txBox="1"/>
          <p:nvPr/>
        </p:nvSpPr>
        <p:spPr>
          <a:xfrm>
            <a:off x="3337560" y="3977639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2A93B"/>
                </a:solidFill>
                <a:latin typeface="Microsoft YaHei"/>
              </a:rPr>
              <a:t>3</a:t>
            </a:r>
            <a:endParaRPr/>
          </a:p>
        </p:txBody>
      </p:sp>
      <p:sp>
        <p:nvSpPr>
          <p:cNvPr id="365" name="TextBox 33"/>
          <p:cNvSpPr txBox="1"/>
          <p:nvPr/>
        </p:nvSpPr>
        <p:spPr>
          <a:xfrm>
            <a:off x="3447288" y="4818888"/>
            <a:ext cx="23865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Microsoft YaHei"/>
              </a:rPr>
              <a:t>实践日报</a:t>
            </a:r>
            <a:endParaRPr/>
          </a:p>
        </p:txBody>
      </p:sp>
      <p:sp>
        <p:nvSpPr>
          <p:cNvPr id="366" name="TextBox 34"/>
          <p:cNvSpPr txBox="1"/>
          <p:nvPr/>
        </p:nvSpPr>
        <p:spPr>
          <a:xfrm>
            <a:off x="3447288" y="5221224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472"/>
                </a:solidFill>
                <a:latin typeface="Microsoft YaHei"/>
              </a:rPr>
              <a:t>每日复盘</a:t>
            </a:r>
            <a:endParaRPr/>
          </a:p>
        </p:txBody>
      </p:sp>
      <p:sp>
        <p:nvSpPr>
          <p:cNvPr id="367" name="Rectangle 35"/>
          <p:cNvSpPr/>
          <p:nvPr/>
        </p:nvSpPr>
        <p:spPr>
          <a:xfrm>
            <a:off x="6126480" y="3703320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Rectangle 36"/>
          <p:cNvSpPr/>
          <p:nvPr/>
        </p:nvSpPr>
        <p:spPr>
          <a:xfrm>
            <a:off x="6126480" y="3703320"/>
            <a:ext cx="2606040" cy="9144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TextBox 37"/>
          <p:cNvSpPr txBox="1"/>
          <p:nvPr/>
        </p:nvSpPr>
        <p:spPr>
          <a:xfrm>
            <a:off x="6126480" y="3977639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2E6FB7"/>
                </a:solidFill>
                <a:latin typeface="Microsoft YaHei"/>
              </a:rPr>
              <a:t>3</a:t>
            </a:r>
            <a:endParaRPr/>
          </a:p>
        </p:txBody>
      </p:sp>
      <p:sp>
        <p:nvSpPr>
          <p:cNvPr id="370" name="TextBox 38"/>
          <p:cNvSpPr txBox="1"/>
          <p:nvPr/>
        </p:nvSpPr>
        <p:spPr>
          <a:xfrm>
            <a:off x="6236208" y="4818888"/>
            <a:ext cx="23865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Microsoft YaHei"/>
              </a:rPr>
              <a:t>问题解决</a:t>
            </a:r>
            <a:endParaRPr/>
          </a:p>
        </p:txBody>
      </p:sp>
      <p:sp>
        <p:nvSpPr>
          <p:cNvPr id="371" name="TextBox 39"/>
          <p:cNvSpPr txBox="1"/>
          <p:nvPr/>
        </p:nvSpPr>
        <p:spPr>
          <a:xfrm>
            <a:off x="6236208" y="5221224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472"/>
                </a:solidFill>
                <a:latin typeface="Microsoft YaHei"/>
              </a:rPr>
              <a:t>全部闭环</a:t>
            </a:r>
            <a:endParaRPr/>
          </a:p>
        </p:txBody>
      </p:sp>
      <p:sp>
        <p:nvSpPr>
          <p:cNvPr id="372" name="Rectangle 40"/>
          <p:cNvSpPr/>
          <p:nvPr/>
        </p:nvSpPr>
        <p:spPr>
          <a:xfrm>
            <a:off x="8915400" y="3703320"/>
            <a:ext cx="2606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Rectangle 41"/>
          <p:cNvSpPr/>
          <p:nvPr/>
        </p:nvSpPr>
        <p:spPr>
          <a:xfrm>
            <a:off x="8915400" y="3703320"/>
            <a:ext cx="2606040" cy="9144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TextBox 42"/>
          <p:cNvSpPr txBox="1"/>
          <p:nvPr/>
        </p:nvSpPr>
        <p:spPr>
          <a:xfrm>
            <a:off x="8915400" y="3977639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2A93B"/>
                </a:solidFill>
                <a:latin typeface="Microsoft YaHei"/>
              </a:rPr>
              <a:t>1</a:t>
            </a:r>
            <a:endParaRPr/>
          </a:p>
        </p:txBody>
      </p:sp>
      <p:sp>
        <p:nvSpPr>
          <p:cNvPr id="375" name="TextBox 43"/>
          <p:cNvSpPr txBox="1"/>
          <p:nvPr/>
        </p:nvSpPr>
        <p:spPr>
          <a:xfrm>
            <a:off x="9025128" y="4818888"/>
            <a:ext cx="23865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Microsoft YaHei"/>
              </a:rPr>
              <a:t>沉淀方法论</a:t>
            </a:r>
            <a:endParaRPr/>
          </a:p>
        </p:txBody>
      </p:sp>
      <p:sp>
        <p:nvSpPr>
          <p:cNvPr id="376" name="TextBox 44"/>
          <p:cNvSpPr txBox="1"/>
          <p:nvPr/>
        </p:nvSpPr>
        <p:spPr>
          <a:xfrm>
            <a:off x="9025128" y="5221224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472"/>
                </a:solidFill>
                <a:latin typeface="Microsoft YaHei"/>
              </a:rPr>
              <a:t>LLM Wiki</a:t>
            </a:r>
            <a:endParaRPr/>
          </a:p>
        </p:txBody>
      </p:sp>
      <p:sp>
        <p:nvSpPr>
          <p:cNvPr id="377" name="TextBox 45"/>
          <p:cNvSpPr txBox="1"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</a:rPr>
              <a:t>第一周项目汇报 · AI 工具上手与 WorkBuddy 实践</a:t>
            </a:r>
            <a:endParaRPr/>
          </a:p>
        </p:txBody>
      </p:sp>
      <p:sp>
        <p:nvSpPr>
          <p:cNvPr id="378" name="TextBox 46"/>
          <p:cNvSpPr txBox="1"/>
          <p:nvPr/>
        </p:nvSpPr>
        <p:spPr>
          <a:xfrm>
            <a:off x="8503920" y="6437376"/>
            <a:ext cx="3136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</a:rPr>
              <a:t>10 / 17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/>
          <p:cNvSpPr/>
          <p:nvPr/>
        </p:nvSpPr>
        <p:spPr>
          <a:xfrm>
            <a:off x="548640" y="502920"/>
            <a:ext cx="118872" cy="566928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2"/>
          <p:cNvSpPr txBox="1"/>
          <p:nvPr/>
        </p:nvSpPr>
        <p:spPr>
          <a:xfrm>
            <a:off x="777240" y="420624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icrosoft YaHei"/>
              </a:rPr>
              <a:t>方法论沉淀：LLM Wiki 知识管理法</a:t>
            </a:r>
            <a:endParaRPr/>
          </a:p>
        </p:txBody>
      </p:sp>
      <p:sp>
        <p:nvSpPr>
          <p:cNvPr id="13" name="TextBox 3"/>
          <p:cNvSpPr txBox="1"/>
          <p:nvPr/>
        </p:nvSpPr>
        <p:spPr>
          <a:xfrm>
            <a:off x="795528" y="107899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6FB7"/>
                </a:solidFill>
                <a:latin typeface="Microsoft YaHei"/>
              </a:rPr>
              <a:t>METHODOLOGY</a:t>
            </a:r>
            <a:endParaRPr/>
          </a:p>
        </p:txBody>
      </p:sp>
      <p:sp>
        <p:nvSpPr>
          <p:cNvPr id="14" name="Rectangle 4"/>
          <p:cNvSpPr/>
          <p:nvPr/>
        </p:nvSpPr>
        <p:spPr>
          <a:xfrm>
            <a:off x="548640" y="1280160"/>
            <a:ext cx="11091672" cy="16459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5"/>
          <p:cNvSpPr/>
          <p:nvPr/>
        </p:nvSpPr>
        <p:spPr>
          <a:xfrm>
            <a:off x="548640" y="1783080"/>
            <a:ext cx="3200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6"/>
          <p:cNvSpPr/>
          <p:nvPr/>
        </p:nvSpPr>
        <p:spPr>
          <a:xfrm>
            <a:off x="548640" y="1783080"/>
            <a:ext cx="3200400" cy="9144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7"/>
          <p:cNvSpPr txBox="1"/>
          <p:nvPr/>
        </p:nvSpPr>
        <p:spPr>
          <a:xfrm>
            <a:off x="731520" y="196596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6FB7"/>
                </a:solidFill>
                <a:latin typeface="Microsoft YaHei"/>
              </a:rPr>
              <a:t>RAW SOURCES</a:t>
            </a:r>
            <a:endParaRPr/>
          </a:p>
        </p:txBody>
      </p:sp>
      <p:sp>
        <p:nvSpPr>
          <p:cNvPr id="18" name="TextBox 8"/>
          <p:cNvSpPr txBox="1"/>
          <p:nvPr/>
        </p:nvSpPr>
        <p:spPr>
          <a:xfrm>
            <a:off x="731520" y="228600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Microsoft YaHei"/>
              </a:rPr>
              <a:t>原始素材层</a:t>
            </a:r>
            <a:endParaRPr/>
          </a:p>
        </p:txBody>
      </p:sp>
      <p:sp>
        <p:nvSpPr>
          <p:cNvPr id="19" name="TextBox 9"/>
          <p:cNvSpPr txBox="1"/>
          <p:nvPr/>
        </p:nvSpPr>
        <p:spPr>
          <a:xfrm>
            <a:off x="731520" y="278892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</a:rPr>
              <a:t>文章 / 论文 / 数据，只读不可改，作为事实源。</a:t>
            </a:r>
            <a:endParaRPr/>
          </a:p>
        </p:txBody>
      </p:sp>
      <p:sp>
        <p:nvSpPr>
          <p:cNvPr id="20" name="TextBox 10"/>
          <p:cNvSpPr txBox="1"/>
          <p:nvPr/>
        </p:nvSpPr>
        <p:spPr>
          <a:xfrm>
            <a:off x="3730752" y="1783080"/>
            <a:ext cx="41148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icrosoft YaHei"/>
              </a:rPr>
              <a:t>→</a:t>
            </a:r>
            <a:endParaRPr/>
          </a:p>
        </p:txBody>
      </p:sp>
      <p:sp>
        <p:nvSpPr>
          <p:cNvPr id="21" name="Rectangle 11"/>
          <p:cNvSpPr/>
          <p:nvPr/>
        </p:nvSpPr>
        <p:spPr>
          <a:xfrm>
            <a:off x="4434840" y="1783080"/>
            <a:ext cx="3200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12"/>
          <p:cNvSpPr/>
          <p:nvPr/>
        </p:nvSpPr>
        <p:spPr>
          <a:xfrm>
            <a:off x="4434840" y="1783080"/>
            <a:ext cx="3200400" cy="9144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3"/>
          <p:cNvSpPr txBox="1"/>
          <p:nvPr/>
        </p:nvSpPr>
        <p:spPr>
          <a:xfrm>
            <a:off x="4617720" y="196596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A93B"/>
                </a:solidFill>
                <a:latin typeface="Microsoft YaHei"/>
              </a:rPr>
              <a:t>THE WIKI</a:t>
            </a:r>
            <a:endParaRPr/>
          </a:p>
        </p:txBody>
      </p:sp>
      <p:sp>
        <p:nvSpPr>
          <p:cNvPr id="24" name="TextBox 14"/>
          <p:cNvSpPr txBox="1"/>
          <p:nvPr/>
        </p:nvSpPr>
        <p:spPr>
          <a:xfrm>
            <a:off x="4617720" y="228600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Microsoft YaHei"/>
              </a:rPr>
              <a:t>知识库层</a:t>
            </a:r>
            <a:endParaRPr/>
          </a:p>
        </p:txBody>
      </p:sp>
      <p:sp>
        <p:nvSpPr>
          <p:cNvPr id="25" name="TextBox 15"/>
          <p:cNvSpPr txBox="1"/>
          <p:nvPr/>
        </p:nvSpPr>
        <p:spPr>
          <a:xfrm>
            <a:off x="4617720" y="278892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</a:rPr>
              <a:t>LLM 生成的 Markdown 体系：摘要 / 概念 / 对比 / 索引。</a:t>
            </a:r>
            <a:endParaRPr/>
          </a:p>
        </p:txBody>
      </p:sp>
      <p:sp>
        <p:nvSpPr>
          <p:cNvPr id="26" name="TextBox 16"/>
          <p:cNvSpPr txBox="1"/>
          <p:nvPr/>
        </p:nvSpPr>
        <p:spPr>
          <a:xfrm>
            <a:off x="7616952" y="1783080"/>
            <a:ext cx="41148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icrosoft YaHei"/>
              </a:rPr>
              <a:t>→</a:t>
            </a:r>
            <a:endParaRPr/>
          </a:p>
        </p:txBody>
      </p:sp>
      <p:sp>
        <p:nvSpPr>
          <p:cNvPr id="27" name="Rectangle 17"/>
          <p:cNvSpPr/>
          <p:nvPr/>
        </p:nvSpPr>
        <p:spPr>
          <a:xfrm>
            <a:off x="8321040" y="1783080"/>
            <a:ext cx="3200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18"/>
          <p:cNvSpPr/>
          <p:nvPr/>
        </p:nvSpPr>
        <p:spPr>
          <a:xfrm>
            <a:off x="8321040" y="1783080"/>
            <a:ext cx="3200400" cy="9144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19"/>
          <p:cNvSpPr txBox="1"/>
          <p:nvPr/>
        </p:nvSpPr>
        <p:spPr>
          <a:xfrm>
            <a:off x="8503919" y="196596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6FB7"/>
                </a:solidFill>
                <a:latin typeface="Microsoft YaHei"/>
              </a:rPr>
              <a:t>THE SCHEMA</a:t>
            </a:r>
            <a:endParaRPr/>
          </a:p>
        </p:txBody>
      </p:sp>
      <p:sp>
        <p:nvSpPr>
          <p:cNvPr id="30" name="TextBox 20"/>
          <p:cNvSpPr txBox="1"/>
          <p:nvPr/>
        </p:nvSpPr>
        <p:spPr>
          <a:xfrm>
            <a:off x="8503919" y="228600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Microsoft YaHei"/>
              </a:rPr>
              <a:t>规范层</a:t>
            </a:r>
            <a:endParaRPr/>
          </a:p>
        </p:txBody>
      </p:sp>
      <p:sp>
        <p:nvSpPr>
          <p:cNvPr id="31" name="TextBox 21"/>
          <p:cNvSpPr txBox="1"/>
          <p:nvPr/>
        </p:nvSpPr>
        <p:spPr>
          <a:xfrm>
            <a:off x="8503919" y="278892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</a:rPr>
              <a:t>约定结构、命名与工作流（如 AGENTS.md），让 LLM 成为守纪律的维护者。</a:t>
            </a:r>
            <a:endParaRPr/>
          </a:p>
        </p:txBody>
      </p:sp>
      <p:sp>
        <p:nvSpPr>
          <p:cNvPr id="32" name="Rectangle 22"/>
          <p:cNvSpPr/>
          <p:nvPr/>
        </p:nvSpPr>
        <p:spPr>
          <a:xfrm>
            <a:off x="548640" y="4343400"/>
            <a:ext cx="11091672" cy="1463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23"/>
          <p:cNvSpPr/>
          <p:nvPr/>
        </p:nvSpPr>
        <p:spPr>
          <a:xfrm>
            <a:off x="548640" y="4343400"/>
            <a:ext cx="109728" cy="146304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24"/>
          <p:cNvSpPr txBox="1"/>
          <p:nvPr/>
        </p:nvSpPr>
        <p:spPr>
          <a:xfrm>
            <a:off x="868680" y="452628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核心理念：知识可"复利"</a:t>
            </a:r>
            <a:endParaRPr/>
          </a:p>
        </p:txBody>
      </p:sp>
      <p:sp>
        <p:nvSpPr>
          <p:cNvPr id="35" name="TextBox 25"/>
          <p:cNvSpPr txBox="1"/>
          <p:nvPr/>
        </p:nvSpPr>
        <p:spPr>
          <a:xfrm>
            <a:off x="868680" y="498348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32A33"/>
                </a:solidFill>
                <a:latin typeface="Microsoft YaHei"/>
              </a:rPr>
              <a:t>传统 RAG 每次提问都从头检索、无积累；LLM Wiki 由 LLM 增量构建并持续维护持久知识库——交叉引用已就位、矛盾已标注、综合已成型，越用越厚。适用于个人、研究、团队内部 wiki 与竞品分析。</a:t>
            </a:r>
            <a:endParaRPr/>
          </a:p>
        </p:txBody>
      </p:sp>
      <p:sp>
        <p:nvSpPr>
          <p:cNvPr id="36" name="TextBox 26"/>
          <p:cNvSpPr txBox="1"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</a:rPr>
              <a:t>第一周项目汇报 · AI 工具上手与 WorkBuddy 实践</a:t>
            </a:r>
            <a:endParaRPr/>
          </a:p>
        </p:txBody>
      </p:sp>
      <p:sp>
        <p:nvSpPr>
          <p:cNvPr id="37" name="TextBox 27"/>
          <p:cNvSpPr txBox="1"/>
          <p:nvPr/>
        </p:nvSpPr>
        <p:spPr>
          <a:xfrm>
            <a:off x="8503920" y="6437376"/>
            <a:ext cx="3136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</a:rPr>
              <a:t>11 / 17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1"/>
          <p:cNvSpPr/>
          <p:nvPr/>
        </p:nvSpPr>
        <p:spPr>
          <a:xfrm>
            <a:off x="548640" y="502920"/>
            <a:ext cx="118872" cy="566928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2"/>
          <p:cNvSpPr txBox="1"/>
          <p:nvPr/>
        </p:nvSpPr>
        <p:spPr>
          <a:xfrm>
            <a:off x="777240" y="420624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icrosoft YaHei"/>
              </a:rPr>
              <a:t>问题与解决</a:t>
            </a:r>
            <a:endParaRPr/>
          </a:p>
        </p:txBody>
      </p:sp>
      <p:sp>
        <p:nvSpPr>
          <p:cNvPr id="41" name="TextBox 3"/>
          <p:cNvSpPr txBox="1"/>
          <p:nvPr/>
        </p:nvSpPr>
        <p:spPr>
          <a:xfrm>
            <a:off x="795528" y="107899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6FB7"/>
                </a:solidFill>
                <a:latin typeface="Microsoft YaHei"/>
              </a:rPr>
              <a:t>ISSUES &amp; RESOLUTION</a:t>
            </a:r>
            <a:endParaRPr/>
          </a:p>
        </p:txBody>
      </p:sp>
      <p:sp>
        <p:nvSpPr>
          <p:cNvPr id="42" name="Rectangle 4"/>
          <p:cNvSpPr/>
          <p:nvPr/>
        </p:nvSpPr>
        <p:spPr>
          <a:xfrm>
            <a:off x="548640" y="1280160"/>
            <a:ext cx="11091672" cy="16459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5"/>
          <p:cNvSpPr/>
          <p:nvPr/>
        </p:nvSpPr>
        <p:spPr>
          <a:xfrm>
            <a:off x="548640" y="1691640"/>
            <a:ext cx="11091672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6"/>
          <p:cNvSpPr/>
          <p:nvPr/>
        </p:nvSpPr>
        <p:spPr>
          <a:xfrm>
            <a:off x="548640" y="1691640"/>
            <a:ext cx="109728" cy="9144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7"/>
          <p:cNvSpPr txBox="1"/>
          <p:nvPr/>
        </p:nvSpPr>
        <p:spPr>
          <a:xfrm>
            <a:off x="868680" y="1801368"/>
            <a:ext cx="66751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6FB7"/>
                </a:solidFill>
                <a:latin typeface="Microsoft YaHei"/>
              </a:rPr>
              <a:t>问题  </a:t>
            </a:r>
            <a:r>
              <a:rPr sz="1300" b="1">
                <a:solidFill>
                  <a:srgbClr val="1F3A5F"/>
                </a:solidFill>
                <a:latin typeface="Microsoft YaHei"/>
              </a:rPr>
              <a:t>Git 配置多次报错，Obsidian 无法实时上传</a:t>
            </a:r>
            <a:endParaRPr/>
          </a:p>
        </p:txBody>
      </p:sp>
      <p:sp>
        <p:nvSpPr>
          <p:cNvPr id="46" name="TextBox 8"/>
          <p:cNvSpPr txBox="1"/>
          <p:nvPr/>
        </p:nvSpPr>
        <p:spPr>
          <a:xfrm>
            <a:off x="7680960" y="1801368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8B57"/>
                </a:solidFill>
                <a:latin typeface="Microsoft YaHei"/>
              </a:rPr>
              <a:t>解决  </a:t>
            </a:r>
            <a:r>
              <a:rPr sz="1200" b="0">
                <a:solidFill>
                  <a:srgbClr val="232A33"/>
                </a:solidFill>
                <a:latin typeface="Microsoft YaHei"/>
              </a:rPr>
              <a:t>排查代理配置，修正后上传链路恢复。</a:t>
            </a:r>
            <a:endParaRPr/>
          </a:p>
        </p:txBody>
      </p:sp>
      <p:sp>
        <p:nvSpPr>
          <p:cNvPr id="47" name="Rectangle 9"/>
          <p:cNvSpPr/>
          <p:nvPr/>
        </p:nvSpPr>
        <p:spPr>
          <a:xfrm>
            <a:off x="548640" y="2770632"/>
            <a:ext cx="11091672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10"/>
          <p:cNvSpPr/>
          <p:nvPr/>
        </p:nvSpPr>
        <p:spPr>
          <a:xfrm>
            <a:off x="548640" y="2770632"/>
            <a:ext cx="109728" cy="9144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11"/>
          <p:cNvSpPr txBox="1"/>
          <p:nvPr/>
        </p:nvSpPr>
        <p:spPr>
          <a:xfrm>
            <a:off x="868680" y="2880360"/>
            <a:ext cx="66751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A93B"/>
                </a:solidFill>
                <a:latin typeface="Microsoft YaHei"/>
              </a:rPr>
              <a:t>问题  </a:t>
            </a:r>
            <a:r>
              <a:rPr sz="1300" b="1">
                <a:solidFill>
                  <a:srgbClr val="1F3A5F"/>
                </a:solidFill>
                <a:latin typeface="Microsoft YaHei"/>
              </a:rPr>
              <a:t>Claude Code 下载失败</a:t>
            </a:r>
            <a:endParaRPr/>
          </a:p>
        </p:txBody>
      </p:sp>
      <p:sp>
        <p:nvSpPr>
          <p:cNvPr id="50" name="TextBox 12"/>
          <p:cNvSpPr txBox="1"/>
          <p:nvPr/>
        </p:nvSpPr>
        <p:spPr>
          <a:xfrm>
            <a:off x="7680960" y="288036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8B57"/>
                </a:solidFill>
                <a:latin typeface="Microsoft YaHei"/>
              </a:rPr>
              <a:t>解决  </a:t>
            </a:r>
            <a:r>
              <a:rPr sz="1200" b="0">
                <a:solidFill>
                  <a:srgbClr val="232A33"/>
                </a:solidFill>
                <a:latin typeface="Microsoft YaHei"/>
              </a:rPr>
              <a:t>原因为旧进程未关闭，结束进程后下载成功。</a:t>
            </a:r>
            <a:endParaRPr/>
          </a:p>
        </p:txBody>
      </p:sp>
      <p:sp>
        <p:nvSpPr>
          <p:cNvPr id="51" name="Rectangle 13"/>
          <p:cNvSpPr/>
          <p:nvPr/>
        </p:nvSpPr>
        <p:spPr>
          <a:xfrm>
            <a:off x="548640" y="3849624"/>
            <a:ext cx="11091672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14"/>
          <p:cNvSpPr/>
          <p:nvPr/>
        </p:nvSpPr>
        <p:spPr>
          <a:xfrm>
            <a:off x="548640" y="3849624"/>
            <a:ext cx="109728" cy="9144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15"/>
          <p:cNvSpPr txBox="1"/>
          <p:nvPr/>
        </p:nvSpPr>
        <p:spPr>
          <a:xfrm>
            <a:off x="868680" y="3959352"/>
            <a:ext cx="66751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6FB7"/>
                </a:solidFill>
                <a:latin typeface="Microsoft YaHei"/>
              </a:rPr>
              <a:t>问题  </a:t>
            </a:r>
            <a:r>
              <a:rPr sz="1300" b="1">
                <a:solidFill>
                  <a:srgbClr val="1F3A5F"/>
                </a:solidFill>
                <a:latin typeface="Microsoft YaHei"/>
              </a:rPr>
              <a:t>Agent 与 Workflow 边界模糊</a:t>
            </a:r>
            <a:endParaRPr/>
          </a:p>
        </p:txBody>
      </p:sp>
      <p:sp>
        <p:nvSpPr>
          <p:cNvPr id="54" name="TextBox 16"/>
          <p:cNvSpPr txBox="1"/>
          <p:nvPr/>
        </p:nvSpPr>
        <p:spPr>
          <a:xfrm>
            <a:off x="7680960" y="3959352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8B57"/>
                </a:solidFill>
                <a:latin typeface="Microsoft YaHei"/>
              </a:rPr>
              <a:t>解决  </a:t>
            </a:r>
            <a:r>
              <a:rPr sz="1200" b="0">
                <a:solidFill>
                  <a:srgbClr val="232A33"/>
                </a:solidFill>
                <a:latin typeface="Microsoft YaHei"/>
              </a:rPr>
              <a:t>查阅官方文档 + 实际调试，明确 Workflow 为执行载体、Agent 为其中智能组件，据此重构。</a:t>
            </a:r>
            <a:endParaRPr/>
          </a:p>
        </p:txBody>
      </p:sp>
      <p:sp>
        <p:nvSpPr>
          <p:cNvPr id="55" name="Rectangle 17"/>
          <p:cNvSpPr/>
          <p:nvPr/>
        </p:nvSpPr>
        <p:spPr>
          <a:xfrm>
            <a:off x="548640" y="4928616"/>
            <a:ext cx="11091672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18"/>
          <p:cNvSpPr/>
          <p:nvPr/>
        </p:nvSpPr>
        <p:spPr>
          <a:xfrm>
            <a:off x="548640" y="4928616"/>
            <a:ext cx="109728" cy="9144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19"/>
          <p:cNvSpPr txBox="1"/>
          <p:nvPr/>
        </p:nvSpPr>
        <p:spPr>
          <a:xfrm>
            <a:off x="868680" y="5038344"/>
            <a:ext cx="66751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A93B"/>
                </a:solidFill>
                <a:latin typeface="Microsoft YaHei"/>
              </a:rPr>
              <a:t>问题  </a:t>
            </a:r>
            <a:r>
              <a:rPr sz="1300" b="1">
                <a:solidFill>
                  <a:srgbClr val="1F3A5F"/>
                </a:solidFill>
                <a:latin typeface="Microsoft YaHei"/>
              </a:rPr>
              <a:t>知识库结构初期零散</a:t>
            </a:r>
            <a:endParaRPr/>
          </a:p>
        </p:txBody>
      </p:sp>
      <p:sp>
        <p:nvSpPr>
          <p:cNvPr id="58" name="TextBox 20"/>
          <p:cNvSpPr txBox="1"/>
          <p:nvPr/>
        </p:nvSpPr>
        <p:spPr>
          <a:xfrm>
            <a:off x="7680960" y="5038344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8B57"/>
                </a:solidFill>
                <a:latin typeface="Microsoft YaHei"/>
              </a:rPr>
              <a:t>解决  </a:t>
            </a:r>
            <a:r>
              <a:rPr sz="1200" b="0">
                <a:solidFill>
                  <a:srgbClr val="232A33"/>
                </a:solidFill>
                <a:latin typeface="Microsoft YaHei"/>
              </a:rPr>
              <a:t>引入索引页与双链规范，按概念轴心组织语义网络。</a:t>
            </a:r>
            <a:endParaRPr/>
          </a:p>
        </p:txBody>
      </p:sp>
      <p:sp>
        <p:nvSpPr>
          <p:cNvPr id="59" name="TextBox 21"/>
          <p:cNvSpPr txBox="1"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</a:rPr>
              <a:t>第一周项目汇报 · AI 工具上手与 WorkBuddy 实践</a:t>
            </a:r>
            <a:endParaRPr/>
          </a:p>
        </p:txBody>
      </p:sp>
      <p:sp>
        <p:nvSpPr>
          <p:cNvPr id="60" name="TextBox 22"/>
          <p:cNvSpPr txBox="1"/>
          <p:nvPr/>
        </p:nvSpPr>
        <p:spPr>
          <a:xfrm>
            <a:off x="8503920" y="6437376"/>
            <a:ext cx="3136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</a:rPr>
              <a:t>12 / 17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1"/>
          <p:cNvSpPr/>
          <p:nvPr/>
        </p:nvSpPr>
        <p:spPr>
          <a:xfrm>
            <a:off x="548640" y="502920"/>
            <a:ext cx="118872" cy="566928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2"/>
          <p:cNvSpPr txBox="1"/>
          <p:nvPr/>
        </p:nvSpPr>
        <p:spPr>
          <a:xfrm>
            <a:off x="777240" y="420624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icrosoft YaHei"/>
              </a:rPr>
              <a:t>价值与影响</a:t>
            </a:r>
            <a:endParaRPr/>
          </a:p>
        </p:txBody>
      </p:sp>
      <p:sp>
        <p:nvSpPr>
          <p:cNvPr id="64" name="TextBox 3"/>
          <p:cNvSpPr txBox="1"/>
          <p:nvPr/>
        </p:nvSpPr>
        <p:spPr>
          <a:xfrm>
            <a:off x="795528" y="107899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6FB7"/>
                </a:solidFill>
                <a:latin typeface="Microsoft YaHei"/>
              </a:rPr>
              <a:t>VALUE &amp; IMPACT</a:t>
            </a:r>
            <a:endParaRPr/>
          </a:p>
        </p:txBody>
      </p:sp>
      <p:sp>
        <p:nvSpPr>
          <p:cNvPr id="65" name="Rectangle 4"/>
          <p:cNvSpPr/>
          <p:nvPr/>
        </p:nvSpPr>
        <p:spPr>
          <a:xfrm>
            <a:off x="548640" y="1280160"/>
            <a:ext cx="11091672" cy="16459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5"/>
          <p:cNvSpPr/>
          <p:nvPr/>
        </p:nvSpPr>
        <p:spPr>
          <a:xfrm>
            <a:off x="548640" y="1691640"/>
            <a:ext cx="53949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"/>
          <p:cNvSpPr/>
          <p:nvPr/>
        </p:nvSpPr>
        <p:spPr>
          <a:xfrm>
            <a:off x="548640" y="1691640"/>
            <a:ext cx="5394960" cy="9144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7"/>
          <p:cNvSpPr txBox="1"/>
          <p:nvPr/>
        </p:nvSpPr>
        <p:spPr>
          <a:xfrm>
            <a:off x="868680" y="192024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F3A5F"/>
                </a:solidFill>
                <a:latin typeface="Microsoft YaHei"/>
              </a:rPr>
              <a:t>对个人</a:t>
            </a:r>
            <a:endParaRPr/>
          </a:p>
        </p:txBody>
      </p:sp>
      <p:sp>
        <p:nvSpPr>
          <p:cNvPr id="69" name="TextBox 8"/>
          <p:cNvSpPr txBox="1"/>
          <p:nvPr/>
        </p:nvSpPr>
        <p:spPr>
          <a:xfrm>
            <a:off x="868680" y="2468880"/>
            <a:ext cx="493776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232A33"/>
                </a:solidFill>
                <a:latin typeface="Microsoft YaHei"/>
              </a:rPr>
              <a:t>• 建立 AI 与编码 Agent 的系统认知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232A33"/>
                </a:solidFill>
                <a:latin typeface="Microsoft YaHei"/>
              </a:rPr>
              <a:t>• 掌握 WorkBuddy 核心模块与自动化能力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232A33"/>
                </a:solidFill>
                <a:latin typeface="Microsoft YaHei"/>
              </a:rPr>
              <a:t>• 形成可检索、可演进的个人知识资产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32A33"/>
                </a:solidFill>
                <a:latin typeface="Microsoft YaHei"/>
              </a:rPr>
              <a:t>• 复盘效率从"手动整理"转向"自动生成"</a:t>
            </a:r>
            <a:endParaRPr/>
          </a:p>
        </p:txBody>
      </p:sp>
      <p:sp>
        <p:nvSpPr>
          <p:cNvPr id="70" name="Rectangle 9"/>
          <p:cNvSpPr/>
          <p:nvPr/>
        </p:nvSpPr>
        <p:spPr>
          <a:xfrm>
            <a:off x="6126480" y="1691640"/>
            <a:ext cx="5513832" cy="4251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10"/>
          <p:cNvSpPr/>
          <p:nvPr/>
        </p:nvSpPr>
        <p:spPr>
          <a:xfrm>
            <a:off x="6126480" y="1691640"/>
            <a:ext cx="5513832" cy="9144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11"/>
          <p:cNvSpPr txBox="1"/>
          <p:nvPr/>
        </p:nvSpPr>
        <p:spPr>
          <a:xfrm>
            <a:off x="6446520" y="192024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F3A5F"/>
                </a:solidFill>
                <a:latin typeface="Microsoft YaHei"/>
              </a:rPr>
              <a:t>对团队（建议推广）</a:t>
            </a:r>
            <a:endParaRPr/>
          </a:p>
        </p:txBody>
      </p:sp>
      <p:sp>
        <p:nvSpPr>
          <p:cNvPr id="73" name="TextBox 12"/>
          <p:cNvSpPr txBox="1"/>
          <p:nvPr/>
        </p:nvSpPr>
        <p:spPr>
          <a:xfrm>
            <a:off x="6446520" y="246888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32A33"/>
                </a:solidFill>
                <a:latin typeface="Microsoft YaHei"/>
              </a:rPr>
              <a:t>• 可直接复用的知识库搭建模板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32A33"/>
                </a:solidFill>
                <a:latin typeface="Microsoft YaHei"/>
              </a:rPr>
              <a:t>• 自动化复盘工作流可迁移到团队 wiki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32A33"/>
                </a:solidFill>
                <a:latin typeface="Microsoft YaHei"/>
              </a:rPr>
              <a:t>• LLM Wiki 方法论支撑持续知识沉淀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32A33"/>
                </a:solidFill>
                <a:latin typeface="Microsoft YaHei"/>
              </a:rPr>
              <a:t>• 降低新人上手 AI 工具的学习曲线</a:t>
            </a:r>
            <a:endParaRPr/>
          </a:p>
        </p:txBody>
      </p:sp>
      <p:sp>
        <p:nvSpPr>
          <p:cNvPr id="74" name="TextBox 13"/>
          <p:cNvSpPr txBox="1"/>
          <p:nvPr/>
        </p:nvSpPr>
        <p:spPr>
          <a:xfrm>
            <a:off x="6126480" y="5440680"/>
            <a:ext cx="55138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472"/>
                </a:solidFill>
                <a:latin typeface="Microsoft YaHei"/>
              </a:rPr>
              <a:t>* 量化收益待团队试点后测算（方向性预估）</a:t>
            </a:r>
            <a:endParaRPr/>
          </a:p>
        </p:txBody>
      </p:sp>
      <p:sp>
        <p:nvSpPr>
          <p:cNvPr id="75" name="TextBox 14"/>
          <p:cNvSpPr txBox="1"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</a:rPr>
              <a:t>第一周项目汇报 · AI 工具上手与 WorkBuddy 实践</a:t>
            </a:r>
            <a:endParaRPr/>
          </a:p>
        </p:txBody>
      </p:sp>
      <p:sp>
        <p:nvSpPr>
          <p:cNvPr id="76" name="TextBox 15"/>
          <p:cNvSpPr txBox="1"/>
          <p:nvPr/>
        </p:nvSpPr>
        <p:spPr>
          <a:xfrm>
            <a:off x="8503920" y="6437376"/>
            <a:ext cx="3136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</a:rPr>
              <a:t>13 / 17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548640" y="502920"/>
            <a:ext cx="118872" cy="566928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2"/>
          <p:cNvSpPr txBox="1"/>
          <p:nvPr/>
        </p:nvSpPr>
        <p:spPr>
          <a:xfrm>
            <a:off x="777240" y="420624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icrosoft YaHei"/>
              </a:rPr>
              <a:t>下一步计划</a:t>
            </a:r>
            <a:endParaRPr/>
          </a:p>
        </p:txBody>
      </p:sp>
      <p:sp>
        <p:nvSpPr>
          <p:cNvPr id="80" name="TextBox 3"/>
          <p:cNvSpPr txBox="1"/>
          <p:nvPr/>
        </p:nvSpPr>
        <p:spPr>
          <a:xfrm>
            <a:off x="795528" y="107899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6FB7"/>
                </a:solidFill>
                <a:latin typeface="Microsoft YaHei"/>
              </a:rPr>
              <a:t>NEXT STEPS</a:t>
            </a:r>
            <a:endParaRPr/>
          </a:p>
        </p:txBody>
      </p:sp>
      <p:sp>
        <p:nvSpPr>
          <p:cNvPr id="81" name="Rectangle 4"/>
          <p:cNvSpPr/>
          <p:nvPr/>
        </p:nvSpPr>
        <p:spPr>
          <a:xfrm>
            <a:off x="548640" y="1280160"/>
            <a:ext cx="11091672" cy="16459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5"/>
          <p:cNvSpPr/>
          <p:nvPr/>
        </p:nvSpPr>
        <p:spPr>
          <a:xfrm>
            <a:off x="548640" y="1737360"/>
            <a:ext cx="3200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6"/>
          <p:cNvSpPr/>
          <p:nvPr/>
        </p:nvSpPr>
        <p:spPr>
          <a:xfrm>
            <a:off x="548640" y="1737360"/>
            <a:ext cx="3200400" cy="50292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7"/>
          <p:cNvSpPr txBox="1"/>
          <p:nvPr/>
        </p:nvSpPr>
        <p:spPr>
          <a:xfrm>
            <a:off x="548640" y="173736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短期 · 本周</a:t>
            </a:r>
            <a:endParaRPr/>
          </a:p>
        </p:txBody>
      </p:sp>
      <p:sp>
        <p:nvSpPr>
          <p:cNvPr id="85" name="TextBox 8"/>
          <p:cNvSpPr txBox="1"/>
          <p:nvPr/>
        </p:nvSpPr>
        <p:spPr>
          <a:xfrm>
            <a:off x="777240" y="24231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3A5F"/>
                </a:solidFill>
                <a:latin typeface="Microsoft YaHei"/>
              </a:rPr>
              <a:t>知识库结构化升级</a:t>
            </a:r>
            <a:endParaRPr/>
          </a:p>
        </p:txBody>
      </p:sp>
      <p:sp>
        <p:nvSpPr>
          <p:cNvPr id="86" name="TextBox 9"/>
          <p:cNvSpPr txBox="1"/>
          <p:nvPr/>
        </p:nvSpPr>
        <p:spPr>
          <a:xfrm>
            <a:off x="777240" y="3063240"/>
            <a:ext cx="27432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232A33"/>
                </a:solidFill>
                <a:latin typeface="Microsoft YaHei"/>
              </a:rPr>
              <a:t>• 概念驱动 + 双链强化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232A33"/>
                </a:solidFill>
                <a:latin typeface="Microsoft YaHei"/>
              </a:rPr>
              <a:t>• 消除知识断点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232A33"/>
                </a:solidFill>
                <a:latin typeface="Microsoft YaHei"/>
              </a:rPr>
              <a:t>• 补全场景与案例</a:t>
            </a:r>
            <a:endParaRPr/>
          </a:p>
        </p:txBody>
      </p:sp>
      <p:sp>
        <p:nvSpPr>
          <p:cNvPr id="87" name="Rectangle 10"/>
          <p:cNvSpPr/>
          <p:nvPr/>
        </p:nvSpPr>
        <p:spPr>
          <a:xfrm>
            <a:off x="4434840" y="1737360"/>
            <a:ext cx="3200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11"/>
          <p:cNvSpPr/>
          <p:nvPr/>
        </p:nvSpPr>
        <p:spPr>
          <a:xfrm>
            <a:off x="4434840" y="1737360"/>
            <a:ext cx="3200400" cy="50292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12"/>
          <p:cNvSpPr txBox="1"/>
          <p:nvPr/>
        </p:nvSpPr>
        <p:spPr>
          <a:xfrm>
            <a:off x="4434840" y="173736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中期 · 1 个月</a:t>
            </a:r>
            <a:endParaRPr/>
          </a:p>
        </p:txBody>
      </p:sp>
      <p:sp>
        <p:nvSpPr>
          <p:cNvPr id="90" name="TextBox 13"/>
          <p:cNvSpPr txBox="1"/>
          <p:nvPr/>
        </p:nvSpPr>
        <p:spPr>
          <a:xfrm>
            <a:off x="4663440" y="24231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3A5F"/>
                </a:solidFill>
                <a:latin typeface="Microsoft YaHei"/>
              </a:rPr>
              <a:t>团队试点自动化</a:t>
            </a:r>
            <a:endParaRPr/>
          </a:p>
        </p:txBody>
      </p:sp>
      <p:sp>
        <p:nvSpPr>
          <p:cNvPr id="91" name="TextBox 14"/>
          <p:cNvSpPr txBox="1"/>
          <p:nvPr/>
        </p:nvSpPr>
        <p:spPr>
          <a:xfrm>
            <a:off x="4663440" y="3063240"/>
            <a:ext cx="27432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232A33"/>
                </a:solidFill>
                <a:latin typeface="Microsoft YaHei"/>
              </a:rPr>
              <a:t>• 选 1 个团队知识库场景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232A33"/>
                </a:solidFill>
                <a:latin typeface="Microsoft YaHei"/>
              </a:rPr>
              <a:t>• 跑通月度可视化报告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232A33"/>
                </a:solidFill>
                <a:latin typeface="Microsoft YaHei"/>
              </a:rPr>
              <a:t>• 收集反馈迭代</a:t>
            </a:r>
            <a:endParaRPr/>
          </a:p>
        </p:txBody>
      </p:sp>
      <p:sp>
        <p:nvSpPr>
          <p:cNvPr id="92" name="Rectangle 15"/>
          <p:cNvSpPr/>
          <p:nvPr/>
        </p:nvSpPr>
        <p:spPr>
          <a:xfrm>
            <a:off x="8321040" y="1737360"/>
            <a:ext cx="3200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16"/>
          <p:cNvSpPr/>
          <p:nvPr/>
        </p:nvSpPr>
        <p:spPr>
          <a:xfrm>
            <a:off x="8321040" y="1737360"/>
            <a:ext cx="3200400" cy="50292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17"/>
          <p:cNvSpPr txBox="1"/>
          <p:nvPr/>
        </p:nvSpPr>
        <p:spPr>
          <a:xfrm>
            <a:off x="8321040" y="173736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长期 · 季度</a:t>
            </a:r>
            <a:endParaRPr/>
          </a:p>
        </p:txBody>
      </p:sp>
      <p:sp>
        <p:nvSpPr>
          <p:cNvPr id="95" name="TextBox 18"/>
          <p:cNvSpPr txBox="1"/>
          <p:nvPr/>
        </p:nvSpPr>
        <p:spPr>
          <a:xfrm>
            <a:off x="8549640" y="24231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3A5F"/>
                </a:solidFill>
                <a:latin typeface="Microsoft YaHei"/>
              </a:rPr>
              <a:t>沉淀使用规范 SOP</a:t>
            </a:r>
            <a:endParaRPr/>
          </a:p>
        </p:txBody>
      </p:sp>
      <p:sp>
        <p:nvSpPr>
          <p:cNvPr id="96" name="TextBox 19"/>
          <p:cNvSpPr txBox="1"/>
          <p:nvPr/>
        </p:nvSpPr>
        <p:spPr>
          <a:xfrm>
            <a:off x="8549640" y="3063240"/>
            <a:ext cx="27432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232A33"/>
                </a:solidFill>
                <a:latin typeface="Microsoft YaHei"/>
              </a:rPr>
              <a:t>• 形成 AI 工具使用规范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232A33"/>
                </a:solidFill>
                <a:latin typeface="Microsoft YaHei"/>
              </a:rPr>
              <a:t>• 建立复盘与评审机制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232A33"/>
                </a:solidFill>
                <a:latin typeface="Microsoft YaHei"/>
              </a:rPr>
              <a:t>• 规模化复制</a:t>
            </a:r>
            <a:endParaRPr/>
          </a:p>
        </p:txBody>
      </p:sp>
      <p:sp>
        <p:nvSpPr>
          <p:cNvPr id="97" name="TextBox 20"/>
          <p:cNvSpPr txBox="1"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</a:rPr>
              <a:t>第一周项目汇报 · AI 工具上手与 WorkBuddy 实践</a:t>
            </a:r>
            <a:endParaRPr/>
          </a:p>
        </p:txBody>
      </p:sp>
      <p:sp>
        <p:nvSpPr>
          <p:cNvPr id="98" name="TextBox 21"/>
          <p:cNvSpPr txBox="1"/>
          <p:nvPr/>
        </p:nvSpPr>
        <p:spPr>
          <a:xfrm>
            <a:off x="8503920" y="6437376"/>
            <a:ext cx="3136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</a:rPr>
              <a:t>14 / 17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548640" y="502920"/>
            <a:ext cx="118872" cy="566928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2"/>
          <p:cNvSpPr txBox="1"/>
          <p:nvPr/>
        </p:nvSpPr>
        <p:spPr>
          <a:xfrm>
            <a:off x="777240" y="420624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Microsoft YaHei"/>
              </a:rPr>
              <a:t>风险与所需支持</a:t>
            </a:r>
            <a:endParaRPr/>
          </a:p>
        </p:txBody>
      </p:sp>
      <p:sp>
        <p:nvSpPr>
          <p:cNvPr id="102" name="TextBox 3"/>
          <p:cNvSpPr txBox="1"/>
          <p:nvPr/>
        </p:nvSpPr>
        <p:spPr>
          <a:xfrm>
            <a:off x="795528" y="107899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6FB7"/>
                </a:solidFill>
                <a:latin typeface="Microsoft YaHei"/>
              </a:rPr>
              <a:t>RISKS &amp; SUPPORT</a:t>
            </a:r>
            <a:endParaRPr/>
          </a:p>
        </p:txBody>
      </p:sp>
      <p:sp>
        <p:nvSpPr>
          <p:cNvPr id="103" name="Rectangle 4"/>
          <p:cNvSpPr/>
          <p:nvPr/>
        </p:nvSpPr>
        <p:spPr>
          <a:xfrm>
            <a:off x="548640" y="1280160"/>
            <a:ext cx="11091672" cy="16459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5"/>
          <p:cNvSpPr/>
          <p:nvPr/>
        </p:nvSpPr>
        <p:spPr>
          <a:xfrm>
            <a:off x="548640" y="1691640"/>
            <a:ext cx="53949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6"/>
          <p:cNvSpPr/>
          <p:nvPr/>
        </p:nvSpPr>
        <p:spPr>
          <a:xfrm>
            <a:off x="548640" y="1691640"/>
            <a:ext cx="109728" cy="4251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7"/>
          <p:cNvSpPr txBox="1"/>
          <p:nvPr/>
        </p:nvSpPr>
        <p:spPr>
          <a:xfrm>
            <a:off x="868680" y="1874519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Microsoft YaHei"/>
              </a:rPr>
              <a:t>主要风险</a:t>
            </a:r>
            <a:endParaRPr/>
          </a:p>
        </p:txBody>
      </p:sp>
      <p:sp>
        <p:nvSpPr>
          <p:cNvPr id="107" name="TextBox 8"/>
          <p:cNvSpPr txBox="1"/>
          <p:nvPr/>
        </p:nvSpPr>
        <p:spPr>
          <a:xfrm>
            <a:off x="868680" y="2423160"/>
            <a:ext cx="493776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>
                <a:solidFill>
                  <a:srgbClr val="232A33"/>
                </a:solidFill>
                <a:latin typeface="Microsoft YaHei"/>
              </a:rPr>
              <a:t>• 当前为单人实践，尚未规模化验证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>
                <a:solidFill>
                  <a:srgbClr val="232A33"/>
                </a:solidFill>
                <a:latin typeface="Microsoft YaHei"/>
              </a:rPr>
              <a:t>• 数据以基础沉淀为主，ROI 待量化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>
                <a:solidFill>
                  <a:srgbClr val="232A33"/>
                </a:solidFill>
                <a:latin typeface="Microsoft YaHei"/>
              </a:rPr>
              <a:t>• 自动化工作流依赖特定环境与连接器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32A33"/>
                </a:solidFill>
                <a:latin typeface="Microsoft YaHei"/>
              </a:rPr>
              <a:t>• 方法论推广需配套使用习惯培养</a:t>
            </a:r>
            <a:endParaRPr/>
          </a:p>
        </p:txBody>
      </p:sp>
      <p:sp>
        <p:nvSpPr>
          <p:cNvPr id="108" name="Rectangle 9"/>
          <p:cNvSpPr/>
          <p:nvPr/>
        </p:nvSpPr>
        <p:spPr>
          <a:xfrm>
            <a:off x="6126480" y="1691640"/>
            <a:ext cx="5513832" cy="4251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"/>
          <p:cNvSpPr/>
          <p:nvPr/>
        </p:nvSpPr>
        <p:spPr>
          <a:xfrm>
            <a:off x="6126480" y="1691640"/>
            <a:ext cx="109728" cy="425196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1"/>
          <p:cNvSpPr txBox="1"/>
          <p:nvPr/>
        </p:nvSpPr>
        <p:spPr>
          <a:xfrm>
            <a:off x="6446520" y="1874519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3A5F"/>
                </a:solidFill>
                <a:latin typeface="Microsoft YaHei"/>
              </a:rPr>
              <a:t>所需支持</a:t>
            </a:r>
            <a:endParaRPr/>
          </a:p>
        </p:txBody>
      </p:sp>
      <p:sp>
        <p:nvSpPr>
          <p:cNvPr id="111" name="TextBox 12"/>
          <p:cNvSpPr txBox="1"/>
          <p:nvPr/>
        </p:nvSpPr>
        <p:spPr>
          <a:xfrm>
            <a:off x="6446520" y="2423160"/>
            <a:ext cx="50292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>
                <a:solidFill>
                  <a:srgbClr val="232A33"/>
                </a:solidFill>
                <a:latin typeface="Microsoft YaHei"/>
              </a:rPr>
              <a:t>• 1 个团队知识库场景的试点授权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>
                <a:solidFill>
                  <a:srgbClr val="232A33"/>
                </a:solidFill>
                <a:latin typeface="Microsoft YaHei"/>
              </a:rPr>
              <a:t>• 试点所需的连接器和环境资源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>
                <a:solidFill>
                  <a:srgbClr val="232A33"/>
                </a:solidFill>
                <a:latin typeface="Microsoft YaHei"/>
              </a:rPr>
              <a:t>• 方法论评审与推广节奏确认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32A33"/>
                </a:solidFill>
                <a:latin typeface="Microsoft YaHei"/>
              </a:rPr>
              <a:t>• 月度复盘报告的受众与反馈机制</a:t>
            </a:r>
            <a:endParaRPr/>
          </a:p>
        </p:txBody>
      </p:sp>
      <p:sp>
        <p:nvSpPr>
          <p:cNvPr id="112" name="TextBox 13"/>
          <p:cNvSpPr txBox="1"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</a:rPr>
              <a:t>第一周项目汇报 · AI 工具上手与 WorkBuddy 实践</a:t>
            </a:r>
            <a:endParaRPr/>
          </a:p>
        </p:txBody>
      </p:sp>
      <p:sp>
        <p:nvSpPr>
          <p:cNvPr id="113" name="TextBox 14"/>
          <p:cNvSpPr txBox="1"/>
          <p:nvPr/>
        </p:nvSpPr>
        <p:spPr>
          <a:xfrm>
            <a:off x="8503920" y="6437376"/>
            <a:ext cx="3136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</a:rPr>
              <a:t>15 / 17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3"/>
          <p:cNvSpPr/>
          <p:nvPr/>
        </p:nvSpPr>
        <p:spPr>
          <a:xfrm>
            <a:off x="9692640" y="4206240"/>
            <a:ext cx="3108960" cy="3108960"/>
          </a:xfrm>
          <a:prstGeom prst="ellipse">
            <a:avLst/>
          </a:prstGeom>
          <a:solidFill>
            <a:srgbClr val="274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4"/>
          <p:cNvSpPr txBox="1"/>
          <p:nvPr/>
        </p:nvSpPr>
        <p:spPr>
          <a:xfrm>
            <a:off x="914400" y="182880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2A93B"/>
                </a:solidFill>
                <a:latin typeface="Microsoft YaHei"/>
              </a:rPr>
              <a:t>总结 · CONCLUSION</a:t>
            </a:r>
            <a:endParaRPr/>
          </a:p>
        </p:txBody>
      </p:sp>
      <p:sp>
        <p:nvSpPr>
          <p:cNvPr id="119" name="TextBox 5"/>
          <p:cNvSpPr txBox="1"/>
          <p:nvPr/>
        </p:nvSpPr>
        <p:spPr>
          <a:xfrm>
            <a:off x="914400" y="2468880"/>
            <a:ext cx="1042416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一周搭建起"AI 知识库 + 自动化复盘"的最小可行闭环，</a:t>
            </a:r>
            <a:endParaRPr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已具备向团队复制推广的条件。</a:t>
            </a:r>
            <a:endParaRPr/>
          </a:p>
        </p:txBody>
      </p:sp>
      <p:sp>
        <p:nvSpPr>
          <p:cNvPr id="120" name="Rectangle 6"/>
          <p:cNvSpPr/>
          <p:nvPr/>
        </p:nvSpPr>
        <p:spPr>
          <a:xfrm>
            <a:off x="914400" y="4754880"/>
            <a:ext cx="2743200" cy="54864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7"/>
          <p:cNvSpPr txBox="1"/>
          <p:nvPr/>
        </p:nvSpPr>
        <p:spPr>
          <a:xfrm>
            <a:off x="914400" y="5029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C9D6E5"/>
                </a:solidFill>
                <a:latin typeface="Microsoft YaHei"/>
              </a:rPr>
              <a:t>建议：批准一个团队场景试点，验证规模化价值。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2"/>
          <p:cNvSpPr/>
          <p:nvPr/>
        </p:nvSpPr>
        <p:spPr>
          <a:xfrm>
            <a:off x="-1097280" y="-1097280"/>
            <a:ext cx="3108960" cy="3108960"/>
          </a:xfrm>
          <a:prstGeom prst="ellipse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3"/>
          <p:cNvSpPr/>
          <p:nvPr/>
        </p:nvSpPr>
        <p:spPr>
          <a:xfrm>
            <a:off x="10424160" y="4754880"/>
            <a:ext cx="2743200" cy="2743200"/>
          </a:xfrm>
          <a:prstGeom prst="ellipse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4"/>
          <p:cNvSpPr txBox="1"/>
          <p:nvPr/>
        </p:nvSpPr>
        <p:spPr>
          <a:xfrm>
            <a:off x="0" y="246888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F3A5F"/>
                </a:solidFill>
                <a:latin typeface="Microsoft YaHei"/>
              </a:rPr>
              <a:t>谢谢观看 · 欢迎讨论</a:t>
            </a:r>
            <a:endParaRPr/>
          </a:p>
        </p:txBody>
      </p:sp>
      <p:sp>
        <p:nvSpPr>
          <p:cNvPr id="127" name="Rectangle 5"/>
          <p:cNvSpPr/>
          <p:nvPr/>
        </p:nvSpPr>
        <p:spPr>
          <a:xfrm>
            <a:off x="4724247" y="3520440"/>
            <a:ext cx="2743200" cy="54864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6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A6472"/>
                </a:solidFill>
                <a:latin typeface="Microsoft YaHei"/>
              </a:rPr>
              <a:t>第一周项目汇报  ·  AI 工具上手与 WorkBuddy 自动化实践</a:t>
            </a:r>
            <a:endParaRPr/>
          </a:p>
        </p:txBody>
      </p:sp>
      <p:sp>
        <p:nvSpPr>
          <p:cNvPr id="129" name="TextBox 7"/>
          <p:cNvSpPr txBox="1"/>
          <p:nvPr/>
        </p:nvSpPr>
        <p:spPr>
          <a:xfrm>
            <a:off x="0" y="443484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A6472"/>
                </a:solidFill>
                <a:latin typeface="Microsoft YaHei"/>
              </a:rPr>
              <a:t>汇报日期：2026/07/31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2026-08-01T00:24:20Z</dcterms:created>
  <dcterms:modified xsi:type="dcterms:W3CDTF">2026-08-01T00:24:20Z</dcterms:modified>
</cp:coreProperties>
</file>