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Layouts/slideLayout8.xml" ContentType="application/vnd.openxmlformats-officedocument.presentationml.slideLayout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charts/chart1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5" Type="http://schemas.openxmlformats.org/officeDocument/2006/relationships/slide" Target="slides/slide15.xml" /><Relationship Id="rId0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13" Type="http://schemas.openxmlformats.org/officeDocument/2006/relationships/slide" Target="slides/slide13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7" Type="http://schemas.openxmlformats.org/officeDocument/2006/relationships/slide" Target="slides/slide7.xml" /><Relationship Id="rId14" Type="http://schemas.openxmlformats.org/officeDocument/2006/relationships/slide" Target="slides/slide14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/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type="obj">
  <p:cSld name="Title and Conten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type="secHead">
  <p:cSld name="Section 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21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2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2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2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type="twoObj">
  <p:cSld name="Two Content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27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28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2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3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type="twoTxTwoObj">
  <p:cSld name="Comparison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35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3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37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38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9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0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 type="titleOnly">
  <p:cSld name="Title 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9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 type="objTx">
  <p:cSld name="Content with Caption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2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3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54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 type="picTx">
  <p:cSld name="Picture with Caption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9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/>
            <a:endParaRPr lang="en-US"/>
          </a:p>
        </p:txBody>
      </p:sp>
      <p:sp>
        <p:nvSpPr>
          <p:cNvPr id="60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61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 type="vertTx">
  <p:cSld name="Title and Vertical 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66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type="vertTitleAndTx">
  <p:cSld name="Vertical Title and 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slideLayout" Target="../slideLayouts/slideLayout2.xml" /><Relationship Id="rId10" Type="http://schemas.openxmlformats.org/officeDocument/2006/relationships/slideLayout" Target="../slideLayouts/slideLayout11.xml" /><Relationship Id="rId11" Type="http://schemas.openxmlformats.org/officeDocument/2006/relationships/theme" Target="../theme/theme1.xml" /><Relationship Id="rId5" Type="http://schemas.openxmlformats.org/officeDocument/2006/relationships/slideLayout" Target="../slideLayouts/slideLayout6.xml" /><Relationship Id="rId4" Type="http://schemas.openxmlformats.org/officeDocument/2006/relationships/slideLayout" Target="../slideLayouts/slideLayout5.xml" /><Relationship Id="rId2" Type="http://schemas.openxmlformats.org/officeDocument/2006/relationships/slideLayout" Target="../slideLayouts/slideLayout3.xml" /><Relationship Id="rId3" Type="http://schemas.openxmlformats.org/officeDocument/2006/relationships/slideLayout" Target="../slideLayouts/slideLayout4.xml" /><Relationship Id="rId6" Type="http://schemas.openxmlformats.org/officeDocument/2006/relationships/slideLayout" Target="../slideLayouts/slideLayout7.xml" /><Relationship Id="rId7" Type="http://schemas.openxmlformats.org/officeDocument/2006/relationships/slideLayout" Target="../slideLayouts/slideLayout8.xml" /><Relationship Id="rId8" Type="http://schemas.openxmlformats.org/officeDocument/2006/relationships/slideLayout" Target="../slideLayouts/slideLayout9.xml" /><Relationship Id="rId9" Type="http://schemas.openxmlformats.org/officeDocument/2006/relationships/slideLayout" Target="../slideLayouts/slideLayout10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xStyles>
    <p:titleStyle>
      <a:lvl1pPr algn="ctr" defTabSz="4572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chart" Target="charts/chart1.xml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image" Target="media/image5.jp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hyperlink" Target="00013c" TargetMode="External"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image" Target="media/image1.png" /><Relationship Id="rId2" Type="http://schemas.openxmlformats.org/officeDocument/2006/relationships/image" Target="media/image2.png" /><Relationship Id="rId3" Type="http://schemas.openxmlformats.org/officeDocument/2006/relationships/image" Target="media/image3.pn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hyperlink" Target="file:///D:/obsidian1/%E7%AC%AC%E4%B8%80%E5%91%A8/jerry-runner.html" TargetMode="External"/><Relationship Id="rId0" Type="http://schemas.openxmlformats.org/officeDocument/2006/relationships/slideLayout" Target="../slideLayouts/slideLayout7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4.png" /><Relationship Id="rId0" Type="http://schemas.openxmlformats.org/officeDocument/2006/relationships/slideLayout" Target="../slideLayouts/slideLayout7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charts/chart1.xml><?xml version="1.0" encoding="utf-8"?>
<c:chartSpace xmlns:a="http://schemas.openxmlformats.org/drawingml/2006/main" xmlns:c="http://schemas.openxmlformats.org/drawingml/2006/chart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知识库各模块页数分布（共 25 页）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</c:f>
              <c:strCache>
                <c:ptCount val="1"/>
                <c:pt idx="0">
                  <c:v>页数</c:v>
                </c:pt>
              </c:strCache>
            </c:strRef>
          </c:tx>
          <c:spPr>
            <a:solidFill>
              <a:srgbClr val="2E6FB7"/>
            </a:solidFill>
          </c:spPr>
          <c:cat>
            <c:strRef>
              <c:f>sheet</c:f>
              <c:strCache>
                <c:ptCount val="7"/>
                <c:pt idx="0">
                  <c:v>AI概念</c:v>
                </c:pt>
                <c:pt idx="1">
                  <c:v>AI工具</c:v>
                </c:pt>
                <c:pt idx="2">
                  <c:v>工具对比</c:v>
                </c:pt>
                <c:pt idx="3">
                  <c:v>日报实践</c:v>
                </c:pt>
                <c:pt idx="4">
                  <c:v>WB实践</c:v>
                </c:pt>
                <c:pt idx="5">
                  <c:v>资料</c:v>
                </c:pt>
                <c:pt idx="6">
                  <c:v>索引</c:v>
                </c:pt>
              </c:strCache>
            </c:strRef>
          </c:cat>
          <c:val>
            <c:numRef>
              <c:f>sheet</c:f>
              <c:numCache>
                <c:formatCode>General</c:formatCode>
                <c:ptCount val="7"/>
                <c:pt idx="0">
                  <c:v>10</c:v>
                </c:pt>
                <c:pt idx="1">
                  <c:v>5</c:v>
                </c:pt>
                <c:pt idx="2">
                  <c:v>1</c:v>
                </c:pt>
                <c:pt idx="3">
                  <c:v>5</c:v>
                </c:pt>
                <c:pt idx="4">
                  <c:v>2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F3A5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1"/>
        <c:axPos val="l"/>
        <c:majorGridlines>
          <c:spPr>
            <a:ln>
              <a:solidFill>
                <a:srgbClr val="DC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</c:chartSpace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509760" y="-1097280"/>
            <a:ext cx="3291840" cy="3291840"/>
          </a:xfrm>
          <a:prstGeom prst="ellipse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1280160"/>
            <a:ext cx="1371600" cy="1371600"/>
          </a:xfrm>
          <a:prstGeom prst="ellipse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7"/>
                </a:solidFill>
                <a:latin typeface="Microsoft YaHei"/>
              </a:rPr>
              <a:t>PROJECT REVIEW · 2026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F3A5F"/>
                </a:solidFill>
                <a:latin typeface="Microsoft YaHei"/>
              </a:rPr>
              <a:t>第一周项目汇报</a:t>
            </a: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3794760"/>
            <a:ext cx="10424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5A6472"/>
                </a:solidFill>
                <a:latin typeface="Microsoft YaHei"/>
              </a:rPr>
              <a:t>AI 工具上手与 WorkBuddy 自动化实践</a:t>
            </a:r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32688" y="4572000"/>
            <a:ext cx="2926080" cy="54864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5577840"/>
            <a:ext cx="10424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32A33"/>
                </a:solidFill>
                <a:latin typeface="Microsoft YaHei"/>
              </a:rPr>
              <a:t>汇报对象：管理层    </a:t>
            </a:r>
            <a:r>
              <a:rPr sz="1300" b="0">
                <a:solidFill>
                  <a:srgbClr val="232A33"/>
                </a:solidFill>
                <a:latin typeface="Microsoft YaHei"/>
              </a:rPr>
              <a:t>|    汇报周期：2026/07/28 – 07/30    </a:t>
            </a:r>
            <a:r>
              <a:rPr sz="1300" b="0">
                <a:solidFill>
                  <a:srgbClr val="232A33"/>
                </a:solidFill>
                <a:latin typeface="Microsoft YaHei"/>
              </a:rPr>
              <a:t>|    汇报日期：2026/07/31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核心结论</a:t>
            </a:r>
            <a:endParaRPr/>
          </a:p>
        </p:txBody>
      </p:sp>
      <p:sp>
        <p:nvSpPr>
          <p:cNvPr id="95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EXECUTIVE SUMMARY</a:t>
            </a:r>
            <a:endParaRPr/>
          </a:p>
        </p:txBody>
      </p:sp>
      <p:sp>
        <p:nvSpPr>
          <p:cNvPr id="96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5"/>
          <p:cNvSpPr txBox="1"/>
          <p:nvPr/>
        </p:nvSpPr>
        <p:spPr>
          <a:xfrm>
            <a:off x="777240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6FB7"/>
                </a:solidFill>
                <a:latin typeface="Microsoft YaHei"/>
              </a:rPr>
              <a:t>一周内完成 AI 工具体系从 0 到 1 搭建，跑通自动化复盘闭环，验证可复制的提效路径。</a:t>
            </a:r>
            <a:endParaRPr/>
          </a:p>
        </p:txBody>
      </p:sp>
      <p:sp>
        <p:nvSpPr>
          <p:cNvPr id="98" name="Rectangle 6"/>
          <p:cNvSpPr/>
          <p:nvPr/>
        </p:nvSpPr>
        <p:spPr>
          <a:xfrm>
            <a:off x="548640" y="21488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7"/>
          <p:cNvSpPr/>
          <p:nvPr/>
        </p:nvSpPr>
        <p:spPr>
          <a:xfrm>
            <a:off x="548640" y="2148840"/>
            <a:ext cx="26060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8"/>
          <p:cNvSpPr txBox="1"/>
          <p:nvPr/>
        </p:nvSpPr>
        <p:spPr>
          <a:xfrm>
            <a:off x="713232" y="2331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E6FB7"/>
                </a:solidFill>
                <a:latin typeface="Microsoft YaHei"/>
              </a:rPr>
              <a:t>01</a:t>
            </a:r>
            <a:endParaRPr/>
          </a:p>
        </p:txBody>
      </p:sp>
      <p:sp>
        <p:nvSpPr>
          <p:cNvPr id="101" name="TextBox 9"/>
          <p:cNvSpPr txBox="1"/>
          <p:nvPr/>
        </p:nvSpPr>
        <p:spPr>
          <a:xfrm>
            <a:off x="713232" y="281635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知识库成型</a:t>
            </a:r>
            <a:endParaRPr/>
          </a:p>
        </p:txBody>
      </p:sp>
      <p:sp>
        <p:nvSpPr>
          <p:cNvPr id="102" name="TextBox 10"/>
          <p:cNvSpPr txBox="1"/>
          <p:nvPr/>
        </p:nvSpPr>
        <p:spPr>
          <a:xfrm>
            <a:off x="713232" y="3291840"/>
            <a:ext cx="227685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累计 25 页结构化笔记，覆盖 10 大 AI 概念与 5 类工具。</a:t>
            </a:r>
            <a:endParaRPr/>
          </a:p>
        </p:txBody>
      </p:sp>
      <p:sp>
        <p:nvSpPr>
          <p:cNvPr id="103" name="Rectangle 11"/>
          <p:cNvSpPr/>
          <p:nvPr/>
        </p:nvSpPr>
        <p:spPr>
          <a:xfrm>
            <a:off x="3337560" y="21488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2"/>
          <p:cNvSpPr/>
          <p:nvPr/>
        </p:nvSpPr>
        <p:spPr>
          <a:xfrm>
            <a:off x="3337560" y="2148840"/>
            <a:ext cx="26060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3"/>
          <p:cNvSpPr txBox="1"/>
          <p:nvPr/>
        </p:nvSpPr>
        <p:spPr>
          <a:xfrm>
            <a:off x="3502152" y="2331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2A93B"/>
                </a:solidFill>
                <a:latin typeface="Microsoft YaHei"/>
              </a:rPr>
              <a:t>02</a:t>
            </a:r>
            <a:endParaRPr/>
          </a:p>
        </p:txBody>
      </p:sp>
      <p:sp>
        <p:nvSpPr>
          <p:cNvPr id="106" name="TextBox 14"/>
          <p:cNvSpPr txBox="1"/>
          <p:nvPr/>
        </p:nvSpPr>
        <p:spPr>
          <a:xfrm>
            <a:off x="3502152" y="281635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自动化跑通</a:t>
            </a:r>
            <a:endParaRPr/>
          </a:p>
        </p:txBody>
      </p:sp>
      <p:sp>
        <p:nvSpPr>
          <p:cNvPr id="107" name="TextBox 15"/>
          <p:cNvSpPr txBox="1"/>
          <p:nvPr/>
        </p:nvSpPr>
        <p:spPr>
          <a:xfrm>
            <a:off x="3502152" y="3291840"/>
            <a:ext cx="227685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WorkBuddy 工作流每月自动生成知识库可视化报告，复盘自动化。</a:t>
            </a:r>
            <a:endParaRPr/>
          </a:p>
        </p:txBody>
      </p:sp>
      <p:sp>
        <p:nvSpPr>
          <p:cNvPr id="108" name="Rectangle 16"/>
          <p:cNvSpPr/>
          <p:nvPr/>
        </p:nvSpPr>
        <p:spPr>
          <a:xfrm>
            <a:off x="6126480" y="21488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7"/>
          <p:cNvSpPr/>
          <p:nvPr/>
        </p:nvSpPr>
        <p:spPr>
          <a:xfrm>
            <a:off x="6126480" y="2148840"/>
            <a:ext cx="26060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8"/>
          <p:cNvSpPr txBox="1"/>
          <p:nvPr/>
        </p:nvSpPr>
        <p:spPr>
          <a:xfrm>
            <a:off x="6291072" y="2331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E6FB7"/>
                </a:solidFill>
                <a:latin typeface="Microsoft YaHei"/>
              </a:rPr>
              <a:t>03</a:t>
            </a:r>
            <a:endParaRPr/>
          </a:p>
        </p:txBody>
      </p:sp>
      <p:sp>
        <p:nvSpPr>
          <p:cNvPr id="111" name="TextBox 19"/>
          <p:cNvSpPr txBox="1"/>
          <p:nvPr/>
        </p:nvSpPr>
        <p:spPr>
          <a:xfrm>
            <a:off x="6291072" y="281635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工具实操</a:t>
            </a:r>
            <a:endParaRPr/>
          </a:p>
        </p:txBody>
      </p:sp>
      <p:sp>
        <p:nvSpPr>
          <p:cNvPr id="112" name="TextBox 20"/>
          <p:cNvSpPr txBox="1"/>
          <p:nvPr/>
        </p:nvSpPr>
        <p:spPr>
          <a:xfrm>
            <a:off x="6291072" y="3291840"/>
            <a:ext cx="227685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完成 Claude Code / Codex 实测与对比，产出可运行 Demo。</a:t>
            </a:r>
            <a:endParaRPr/>
          </a:p>
        </p:txBody>
      </p:sp>
      <p:sp>
        <p:nvSpPr>
          <p:cNvPr id="113" name="Rectangle 21"/>
          <p:cNvSpPr/>
          <p:nvPr/>
        </p:nvSpPr>
        <p:spPr>
          <a:xfrm>
            <a:off x="8915400" y="21488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22"/>
          <p:cNvSpPr/>
          <p:nvPr/>
        </p:nvSpPr>
        <p:spPr>
          <a:xfrm>
            <a:off x="8915400" y="2148840"/>
            <a:ext cx="26060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23"/>
          <p:cNvSpPr txBox="1"/>
          <p:nvPr/>
        </p:nvSpPr>
        <p:spPr>
          <a:xfrm>
            <a:off x="9079992" y="2331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2A93B"/>
                </a:solidFill>
                <a:latin typeface="Microsoft YaHei"/>
              </a:rPr>
              <a:t>04</a:t>
            </a:r>
            <a:endParaRPr/>
          </a:p>
        </p:txBody>
      </p:sp>
      <p:sp>
        <p:nvSpPr>
          <p:cNvPr id="116" name="TextBox 24"/>
          <p:cNvSpPr txBox="1"/>
          <p:nvPr/>
        </p:nvSpPr>
        <p:spPr>
          <a:xfrm>
            <a:off x="9079992" y="281635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方法论沉淀</a:t>
            </a:r>
            <a:endParaRPr/>
          </a:p>
        </p:txBody>
      </p:sp>
      <p:sp>
        <p:nvSpPr>
          <p:cNvPr id="117" name="TextBox 25"/>
          <p:cNvSpPr txBox="1"/>
          <p:nvPr/>
        </p:nvSpPr>
        <p:spPr>
          <a:xfrm>
            <a:off x="9079992" y="3291840"/>
            <a:ext cx="227685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引入 Karpathy LLM Wiki 知识管理法，具备团队推广基础。</a:t>
            </a:r>
            <a:endParaRPr/>
          </a:p>
        </p:txBody>
      </p:sp>
      <p:sp>
        <p:nvSpPr>
          <p:cNvPr id="118" name="Rectangle 26"/>
          <p:cNvSpPr/>
          <p:nvPr/>
        </p:nvSpPr>
        <p:spPr>
          <a:xfrm>
            <a:off x="548640" y="4754880"/>
            <a:ext cx="11091672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27"/>
          <p:cNvSpPr txBox="1"/>
          <p:nvPr/>
        </p:nvSpPr>
        <p:spPr>
          <a:xfrm>
            <a:off x="548640" y="4864608"/>
            <a:ext cx="277063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25</a:t>
            </a:r>
            <a:endParaRPr/>
          </a:p>
        </p:txBody>
      </p:sp>
      <p:sp>
        <p:nvSpPr>
          <p:cNvPr id="120" name="TextBox 28"/>
          <p:cNvSpPr txBox="1"/>
          <p:nvPr/>
        </p:nvSpPr>
        <p:spPr>
          <a:xfrm>
            <a:off x="548640" y="5394960"/>
            <a:ext cx="2770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累计笔记页数</a:t>
            </a:r>
            <a:endParaRPr/>
          </a:p>
        </p:txBody>
      </p:sp>
      <p:sp>
        <p:nvSpPr>
          <p:cNvPr id="121" name="Rectangle 29"/>
          <p:cNvSpPr/>
          <p:nvPr/>
        </p:nvSpPr>
        <p:spPr>
          <a:xfrm>
            <a:off x="3319272" y="4983480"/>
            <a:ext cx="13716" cy="502920"/>
          </a:xfrm>
          <a:prstGeom prst="rect">
            <a:avLst/>
          </a:prstGeom>
          <a:solidFill>
            <a:srgbClr val="3A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30"/>
          <p:cNvSpPr txBox="1"/>
          <p:nvPr/>
        </p:nvSpPr>
        <p:spPr>
          <a:xfrm>
            <a:off x="3319272" y="4864608"/>
            <a:ext cx="277063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3</a:t>
            </a:r>
            <a:endParaRPr/>
          </a:p>
        </p:txBody>
      </p:sp>
      <p:sp>
        <p:nvSpPr>
          <p:cNvPr id="123" name="TextBox 31"/>
          <p:cNvSpPr txBox="1"/>
          <p:nvPr/>
        </p:nvSpPr>
        <p:spPr>
          <a:xfrm>
            <a:off x="3319272" y="5394960"/>
            <a:ext cx="2770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集中实践天数</a:t>
            </a:r>
            <a:endParaRPr/>
          </a:p>
        </p:txBody>
      </p:sp>
      <p:sp>
        <p:nvSpPr>
          <p:cNvPr id="124" name="Rectangle 32"/>
          <p:cNvSpPr/>
          <p:nvPr/>
        </p:nvSpPr>
        <p:spPr>
          <a:xfrm>
            <a:off x="6089904" y="4983480"/>
            <a:ext cx="13716" cy="502920"/>
          </a:xfrm>
          <a:prstGeom prst="rect">
            <a:avLst/>
          </a:prstGeom>
          <a:solidFill>
            <a:srgbClr val="3A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33"/>
          <p:cNvSpPr txBox="1"/>
          <p:nvPr/>
        </p:nvSpPr>
        <p:spPr>
          <a:xfrm>
            <a:off x="6089903" y="4864608"/>
            <a:ext cx="277063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1</a:t>
            </a:r>
            <a:endParaRPr/>
          </a:p>
        </p:txBody>
      </p:sp>
      <p:sp>
        <p:nvSpPr>
          <p:cNvPr id="126" name="TextBox 34"/>
          <p:cNvSpPr txBox="1"/>
          <p:nvPr/>
        </p:nvSpPr>
        <p:spPr>
          <a:xfrm>
            <a:off x="6089903" y="5394960"/>
            <a:ext cx="2770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自动化工作流</a:t>
            </a:r>
            <a:endParaRPr/>
          </a:p>
        </p:txBody>
      </p:sp>
      <p:sp>
        <p:nvSpPr>
          <p:cNvPr id="127" name="Rectangle 35"/>
          <p:cNvSpPr/>
          <p:nvPr/>
        </p:nvSpPr>
        <p:spPr>
          <a:xfrm>
            <a:off x="8860536" y="4983480"/>
            <a:ext cx="13716" cy="502920"/>
          </a:xfrm>
          <a:prstGeom prst="rect">
            <a:avLst/>
          </a:prstGeom>
          <a:solidFill>
            <a:srgbClr val="3A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36"/>
          <p:cNvSpPr txBox="1"/>
          <p:nvPr/>
        </p:nvSpPr>
        <p:spPr>
          <a:xfrm>
            <a:off x="8860536" y="4864608"/>
            <a:ext cx="277063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1</a:t>
            </a:r>
            <a:endParaRPr/>
          </a:p>
        </p:txBody>
      </p:sp>
      <p:sp>
        <p:nvSpPr>
          <p:cNvPr id="129" name="TextBox 37"/>
          <p:cNvSpPr txBox="1"/>
          <p:nvPr/>
        </p:nvSpPr>
        <p:spPr>
          <a:xfrm>
            <a:off x="8860536" y="5394960"/>
            <a:ext cx="2770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可复用方法论</a:t>
            </a:r>
            <a:endParaRPr/>
          </a:p>
        </p:txBody>
      </p:sp>
      <p:sp>
        <p:nvSpPr>
          <p:cNvPr id="130" name="TextBox 38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131" name="TextBox 39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02 / 17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1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汇报框架</a:t>
            </a:r>
            <a:endParaRPr/>
          </a:p>
        </p:txBody>
      </p:sp>
      <p:sp>
        <p:nvSpPr>
          <p:cNvPr id="135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AGENDA</a:t>
            </a:r>
            <a:endParaRPr/>
          </a:p>
        </p:txBody>
      </p:sp>
      <p:sp>
        <p:nvSpPr>
          <p:cNvPr id="136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5"/>
          <p:cNvSpPr/>
          <p:nvPr/>
        </p:nvSpPr>
        <p:spPr>
          <a:xfrm>
            <a:off x="548640" y="1691640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6"/>
          <p:cNvSpPr/>
          <p:nvPr/>
        </p:nvSpPr>
        <p:spPr>
          <a:xfrm>
            <a:off x="548640" y="1691640"/>
            <a:ext cx="109728" cy="91440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7"/>
          <p:cNvSpPr txBox="1"/>
          <p:nvPr/>
        </p:nvSpPr>
        <p:spPr>
          <a:xfrm>
            <a:off x="868680" y="1691640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E6FB7"/>
                </a:solidFill>
                <a:latin typeface="Microsoft YaHei"/>
              </a:rPr>
              <a:t>01</a:t>
            </a:r>
            <a:endParaRPr/>
          </a:p>
        </p:txBody>
      </p:sp>
      <p:sp>
        <p:nvSpPr>
          <p:cNvPr id="140" name="TextBox 8"/>
          <p:cNvSpPr txBox="1"/>
          <p:nvPr/>
        </p:nvSpPr>
        <p:spPr>
          <a:xfrm>
            <a:off x="2057400" y="1837944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背景与目标</a:t>
            </a:r>
            <a:endParaRPr/>
          </a:p>
        </p:txBody>
      </p:sp>
      <p:sp>
        <p:nvSpPr>
          <p:cNvPr id="141" name="TextBox 9"/>
          <p:cNvSpPr txBox="1"/>
          <p:nvPr/>
        </p:nvSpPr>
        <p:spPr>
          <a:xfrm>
            <a:off x="2057400" y="22402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为什么做、做到什么程度</a:t>
            </a:r>
            <a:endParaRPr/>
          </a:p>
        </p:txBody>
      </p:sp>
      <p:sp>
        <p:nvSpPr>
          <p:cNvPr id="142" name="Rectangle 10"/>
          <p:cNvSpPr/>
          <p:nvPr/>
        </p:nvSpPr>
        <p:spPr>
          <a:xfrm>
            <a:off x="548640" y="2770632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1"/>
          <p:cNvSpPr/>
          <p:nvPr/>
        </p:nvSpPr>
        <p:spPr>
          <a:xfrm>
            <a:off x="548640" y="2770632"/>
            <a:ext cx="10972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2"/>
          <p:cNvSpPr txBox="1"/>
          <p:nvPr/>
        </p:nvSpPr>
        <p:spPr>
          <a:xfrm>
            <a:off x="868680" y="2770632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02</a:t>
            </a:r>
            <a:endParaRPr/>
          </a:p>
        </p:txBody>
      </p:sp>
      <p:sp>
        <p:nvSpPr>
          <p:cNvPr id="145" name="TextBox 13"/>
          <p:cNvSpPr txBox="1"/>
          <p:nvPr/>
        </p:nvSpPr>
        <p:spPr>
          <a:xfrm>
            <a:off x="2057400" y="2916936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周进展与成果</a:t>
            </a:r>
            <a:endParaRPr/>
          </a:p>
        </p:txBody>
      </p:sp>
      <p:sp>
        <p:nvSpPr>
          <p:cNvPr id="146" name="TextBox 14"/>
          <p:cNvSpPr txBox="1"/>
          <p:nvPr/>
        </p:nvSpPr>
        <p:spPr>
          <a:xfrm>
            <a:off x="2057400" y="33192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三天时间线与三大核心产出</a:t>
            </a:r>
            <a:endParaRPr/>
          </a:p>
        </p:txBody>
      </p:sp>
      <p:sp>
        <p:nvSpPr>
          <p:cNvPr id="147" name="Rectangle 15"/>
          <p:cNvSpPr/>
          <p:nvPr/>
        </p:nvSpPr>
        <p:spPr>
          <a:xfrm>
            <a:off x="548640" y="3849624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6"/>
          <p:cNvSpPr/>
          <p:nvPr/>
        </p:nvSpPr>
        <p:spPr>
          <a:xfrm>
            <a:off x="548640" y="3849624"/>
            <a:ext cx="109728" cy="91440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7"/>
          <p:cNvSpPr txBox="1"/>
          <p:nvPr/>
        </p:nvSpPr>
        <p:spPr>
          <a:xfrm>
            <a:off x="868680" y="3849624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E6FB7"/>
                </a:solidFill>
                <a:latin typeface="Microsoft YaHei"/>
              </a:rPr>
              <a:t>03</a:t>
            </a:r>
            <a:endParaRPr/>
          </a:p>
        </p:txBody>
      </p:sp>
      <p:sp>
        <p:nvSpPr>
          <p:cNvPr id="150" name="TextBox 18"/>
          <p:cNvSpPr txBox="1"/>
          <p:nvPr/>
        </p:nvSpPr>
        <p:spPr>
          <a:xfrm>
            <a:off x="2057400" y="3995928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经验与方法论</a:t>
            </a:r>
            <a:endParaRPr/>
          </a:p>
        </p:txBody>
      </p:sp>
      <p:sp>
        <p:nvSpPr>
          <p:cNvPr id="151" name="TextBox 19"/>
          <p:cNvSpPr txBox="1"/>
          <p:nvPr/>
        </p:nvSpPr>
        <p:spPr>
          <a:xfrm>
            <a:off x="2057400" y="4398264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LLM Wiki 知识管理法 + 问题解决</a:t>
            </a:r>
            <a:endParaRPr/>
          </a:p>
        </p:txBody>
      </p:sp>
      <p:sp>
        <p:nvSpPr>
          <p:cNvPr id="152" name="Rectangle 20"/>
          <p:cNvSpPr/>
          <p:nvPr/>
        </p:nvSpPr>
        <p:spPr>
          <a:xfrm>
            <a:off x="548640" y="4928616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21"/>
          <p:cNvSpPr/>
          <p:nvPr/>
        </p:nvSpPr>
        <p:spPr>
          <a:xfrm>
            <a:off x="548640" y="4928616"/>
            <a:ext cx="10972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22"/>
          <p:cNvSpPr txBox="1"/>
          <p:nvPr/>
        </p:nvSpPr>
        <p:spPr>
          <a:xfrm>
            <a:off x="868680" y="4928616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A93B"/>
                </a:solidFill>
                <a:latin typeface="Microsoft YaHei"/>
              </a:rPr>
              <a:t>04</a:t>
            </a:r>
            <a:endParaRPr/>
          </a:p>
        </p:txBody>
      </p:sp>
      <p:sp>
        <p:nvSpPr>
          <p:cNvPr id="155" name="TextBox 23"/>
          <p:cNvSpPr txBox="1"/>
          <p:nvPr/>
        </p:nvSpPr>
        <p:spPr>
          <a:xfrm>
            <a:off x="2057400" y="5074920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下一步与所需支持</a:t>
            </a:r>
            <a:endParaRPr/>
          </a:p>
        </p:txBody>
      </p:sp>
      <p:sp>
        <p:nvSpPr>
          <p:cNvPr id="156" name="TextBox 24"/>
          <p:cNvSpPr txBox="1"/>
          <p:nvPr/>
        </p:nvSpPr>
        <p:spPr>
          <a:xfrm>
            <a:off x="2057400" y="5477256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推广计划、风险与资源请求</a:t>
            </a:r>
            <a:endParaRPr/>
          </a:p>
        </p:txBody>
      </p:sp>
      <p:sp>
        <p:nvSpPr>
          <p:cNvPr id="157" name="TextBox 25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158" name="TextBox 26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03 / 17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15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项目背景与目标</a:t>
            </a:r>
            <a:endParaRPr/>
          </a:p>
        </p:txBody>
      </p:sp>
      <p:sp>
        <p:nvSpPr>
          <p:cNvPr id="162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BACKGROUND &amp; OBJECTIVES</a:t>
            </a:r>
            <a:endParaRPr/>
          </a:p>
        </p:txBody>
      </p:sp>
      <p:sp>
        <p:nvSpPr>
          <p:cNvPr id="163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5"/>
          <p:cNvSpPr txBox="1"/>
          <p:nvPr/>
        </p:nvSpPr>
        <p:spPr>
          <a:xfrm>
            <a:off x="777240" y="1508760"/>
            <a:ext cx="10607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背景：</a:t>
            </a:r>
            <a:r>
              <a:rPr sz="1400" b="0">
                <a:solidFill>
                  <a:srgbClr val="232A33"/>
                </a:solidFill>
                <a:latin typeface="Microsoft YaHei"/>
              </a:rPr>
              <a:t>AI 工具与编码智能体（Agent）迭代迅速，团队亟需快速建立系统认知与实操能力，把"会用"升级为"能沉淀、可复制"。</a:t>
            </a:r>
            <a:endParaRPr/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范围：</a:t>
            </a:r>
            <a:r>
              <a:rPr sz="1400" b="0">
                <a:solidFill>
                  <a:srgbClr val="232A33"/>
                </a:solidFill>
                <a:latin typeface="Microsoft YaHei"/>
              </a:rPr>
              <a:t>单人一周集中实践（7/28–7/30），以 Obsidian 知识库 + WorkBuddy 为主要载体。</a:t>
            </a:r>
            <a:endParaRPr/>
          </a:p>
        </p:txBody>
      </p:sp>
      <p:sp>
        <p:nvSpPr>
          <p:cNvPr id="165" name="TextBox 6"/>
          <p:cNvSpPr txBox="1"/>
          <p:nvPr/>
        </p:nvSpPr>
        <p:spPr>
          <a:xfrm>
            <a:off x="777240" y="3200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本周三大目标</a:t>
            </a:r>
            <a:endParaRPr/>
          </a:p>
        </p:txBody>
      </p:sp>
      <p:sp>
        <p:nvSpPr>
          <p:cNvPr id="166" name="Rectangle 7"/>
          <p:cNvSpPr/>
          <p:nvPr/>
        </p:nvSpPr>
        <p:spPr>
          <a:xfrm>
            <a:off x="548640" y="3657600"/>
            <a:ext cx="32918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8"/>
          <p:cNvSpPr/>
          <p:nvPr/>
        </p:nvSpPr>
        <p:spPr>
          <a:xfrm>
            <a:off x="548640" y="3657600"/>
            <a:ext cx="32918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Oval 9"/>
          <p:cNvSpPr/>
          <p:nvPr/>
        </p:nvSpPr>
        <p:spPr>
          <a:xfrm>
            <a:off x="777240" y="3977639"/>
            <a:ext cx="502920" cy="502920"/>
          </a:xfrm>
          <a:prstGeom prst="ellipse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0"/>
          <p:cNvSpPr txBox="1"/>
          <p:nvPr/>
        </p:nvSpPr>
        <p:spPr>
          <a:xfrm>
            <a:off x="77724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✓</a:t>
            </a:r>
            <a:endParaRPr/>
          </a:p>
        </p:txBody>
      </p:sp>
      <p:sp>
        <p:nvSpPr>
          <p:cNvPr id="170" name="TextBox 11"/>
          <p:cNvSpPr txBox="1"/>
          <p:nvPr/>
        </p:nvSpPr>
        <p:spPr>
          <a:xfrm>
            <a:off x="1417319" y="3977639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建立结构化 AI 知识库</a:t>
            </a:r>
            <a:endParaRPr/>
          </a:p>
          <a:p>
            <a:pPr algn="l">
              <a:spcBef>
                <a:spcPts val="0"/>
              </a:spcBef>
              <a:spcAft>
                <a:spcPts val="400"/>
              </a:spcAft>
            </a:pPr>
            <a:endParaRPr/>
          </a:p>
        </p:txBody>
      </p:sp>
      <p:sp>
        <p:nvSpPr>
          <p:cNvPr id="171" name="TextBox 12"/>
          <p:cNvSpPr txBox="1"/>
          <p:nvPr/>
        </p:nvSpPr>
        <p:spPr>
          <a:xfrm>
            <a:off x="822959" y="470916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按概念 / 工具 / 对比分类沉淀，形成可检索的体系。</a:t>
            </a:r>
            <a:endParaRPr/>
          </a:p>
        </p:txBody>
      </p:sp>
      <p:sp>
        <p:nvSpPr>
          <p:cNvPr id="172" name="Rectangle 13"/>
          <p:cNvSpPr/>
          <p:nvPr/>
        </p:nvSpPr>
        <p:spPr>
          <a:xfrm>
            <a:off x="4160520" y="3657600"/>
            <a:ext cx="32918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4"/>
          <p:cNvSpPr/>
          <p:nvPr/>
        </p:nvSpPr>
        <p:spPr>
          <a:xfrm>
            <a:off x="4160520" y="3657600"/>
            <a:ext cx="329184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Oval 15"/>
          <p:cNvSpPr/>
          <p:nvPr/>
        </p:nvSpPr>
        <p:spPr>
          <a:xfrm>
            <a:off x="4389120" y="3977639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6"/>
          <p:cNvSpPr txBox="1"/>
          <p:nvPr/>
        </p:nvSpPr>
        <p:spPr>
          <a:xfrm>
            <a:off x="43891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✓</a:t>
            </a:r>
            <a:endParaRPr/>
          </a:p>
        </p:txBody>
      </p:sp>
      <p:sp>
        <p:nvSpPr>
          <p:cNvPr id="176" name="TextBox 17"/>
          <p:cNvSpPr txBox="1"/>
          <p:nvPr/>
        </p:nvSpPr>
        <p:spPr>
          <a:xfrm>
            <a:off x="5029200" y="3977639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掌握 WorkBuddy 并跑通自动化</a:t>
            </a:r>
            <a:endParaRPr/>
          </a:p>
          <a:p>
            <a:pPr algn="l">
              <a:spcBef>
                <a:spcPts val="0"/>
              </a:spcBef>
              <a:spcAft>
                <a:spcPts val="400"/>
              </a:spcAft>
            </a:pPr>
            <a:endParaRPr/>
          </a:p>
        </p:txBody>
      </p:sp>
      <p:sp>
        <p:nvSpPr>
          <p:cNvPr id="177" name="TextBox 18"/>
          <p:cNvSpPr txBox="1"/>
          <p:nvPr/>
        </p:nvSpPr>
        <p:spPr>
          <a:xfrm>
            <a:off x="4434840" y="470916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理解核心模块，落地一个端到端自动化工作流。</a:t>
            </a:r>
            <a:endParaRPr/>
          </a:p>
        </p:txBody>
      </p:sp>
      <p:sp>
        <p:nvSpPr>
          <p:cNvPr id="178" name="Rectangle 19"/>
          <p:cNvSpPr/>
          <p:nvPr/>
        </p:nvSpPr>
        <p:spPr>
          <a:xfrm>
            <a:off x="7772400" y="3657600"/>
            <a:ext cx="32918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20"/>
          <p:cNvSpPr/>
          <p:nvPr/>
        </p:nvSpPr>
        <p:spPr>
          <a:xfrm>
            <a:off x="7772400" y="3657600"/>
            <a:ext cx="329184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21"/>
          <p:cNvSpPr/>
          <p:nvPr/>
        </p:nvSpPr>
        <p:spPr>
          <a:xfrm>
            <a:off x="8001000" y="3977639"/>
            <a:ext cx="502920" cy="502920"/>
          </a:xfrm>
          <a:prstGeom prst="ellipse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22"/>
          <p:cNvSpPr txBox="1"/>
          <p:nvPr/>
        </p:nvSpPr>
        <p:spPr>
          <a:xfrm>
            <a:off x="800100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✓</a:t>
            </a:r>
            <a:endParaRPr/>
          </a:p>
        </p:txBody>
      </p:sp>
      <p:sp>
        <p:nvSpPr>
          <p:cNvPr id="182" name="TextBox 23"/>
          <p:cNvSpPr txBox="1"/>
          <p:nvPr/>
        </p:nvSpPr>
        <p:spPr>
          <a:xfrm>
            <a:off x="8641080" y="3977639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沉淀可复用方法论</a:t>
            </a:r>
            <a:endParaRPr/>
          </a:p>
          <a:p>
            <a:pPr algn="l">
              <a:spcBef>
                <a:spcPts val="0"/>
              </a:spcBef>
              <a:spcAft>
                <a:spcPts val="400"/>
              </a:spcAft>
            </a:pPr>
            <a:endParaRPr/>
          </a:p>
        </p:txBody>
      </p:sp>
      <p:sp>
        <p:nvSpPr>
          <p:cNvPr id="183" name="TextBox 24"/>
          <p:cNvSpPr txBox="1"/>
          <p:nvPr/>
        </p:nvSpPr>
        <p:spPr>
          <a:xfrm>
            <a:off x="8046720" y="470916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形成可向团队复制的知识管理范式。</a:t>
            </a:r>
            <a:endParaRPr/>
          </a:p>
        </p:txBody>
      </p:sp>
      <p:sp>
        <p:nvSpPr>
          <p:cNvPr id="184" name="TextBox 25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185" name="TextBox 26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04 / 17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1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周进展时间线</a:t>
            </a:r>
            <a:endParaRPr/>
          </a:p>
        </p:txBody>
      </p:sp>
      <p:sp>
        <p:nvSpPr>
          <p:cNvPr id="189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WEEKLY TIMELINE</a:t>
            </a:r>
            <a:endParaRPr/>
          </a:p>
        </p:txBody>
      </p:sp>
      <p:sp>
        <p:nvSpPr>
          <p:cNvPr id="190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5"/>
          <p:cNvSpPr/>
          <p:nvPr/>
        </p:nvSpPr>
        <p:spPr>
          <a:xfrm>
            <a:off x="914400" y="3246120"/>
            <a:ext cx="10332720" cy="36576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Oval 6"/>
          <p:cNvSpPr/>
          <p:nvPr/>
        </p:nvSpPr>
        <p:spPr>
          <a:xfrm>
            <a:off x="1938527" y="3081528"/>
            <a:ext cx="365760" cy="365760"/>
          </a:xfrm>
          <a:prstGeom prst="ellipse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7"/>
          <p:cNvSpPr txBox="1"/>
          <p:nvPr/>
        </p:nvSpPr>
        <p:spPr>
          <a:xfrm>
            <a:off x="822959" y="251460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6FB7"/>
                </a:solidFill>
                <a:latin typeface="Microsoft YaHei"/>
              </a:rPr>
              <a:t>Day 1  07/28</a:t>
            </a:r>
            <a:endParaRPr/>
          </a:p>
        </p:txBody>
      </p:sp>
      <p:sp>
        <p:nvSpPr>
          <p:cNvPr id="194" name="Rectangle 8"/>
          <p:cNvSpPr/>
          <p:nvPr/>
        </p:nvSpPr>
        <p:spPr>
          <a:xfrm>
            <a:off x="548639" y="3657600"/>
            <a:ext cx="3108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Rectangle 9"/>
          <p:cNvSpPr/>
          <p:nvPr/>
        </p:nvSpPr>
        <p:spPr>
          <a:xfrm>
            <a:off x="548639" y="3657600"/>
            <a:ext cx="310896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0"/>
          <p:cNvSpPr txBox="1"/>
          <p:nvPr/>
        </p:nvSpPr>
        <p:spPr>
          <a:xfrm>
            <a:off x="731519" y="38404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AI 基础概念 + 知识库搭建</a:t>
            </a:r>
            <a:endParaRPr/>
          </a:p>
        </p:txBody>
      </p:sp>
      <p:sp>
        <p:nvSpPr>
          <p:cNvPr id="197" name="TextBox 11"/>
          <p:cNvSpPr txBox="1"/>
          <p:nvPr/>
        </p:nvSpPr>
        <p:spPr>
          <a:xfrm>
            <a:off x="731519" y="434340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学习 LLM / Token / 上下文 / 幻觉；用 Git + Obsidian 建立 AI 概念目录结构。</a:t>
            </a:r>
            <a:endParaRPr/>
          </a:p>
        </p:txBody>
      </p:sp>
      <p:sp>
        <p:nvSpPr>
          <p:cNvPr id="198" name="TextBox 12"/>
          <p:cNvSpPr txBox="1"/>
          <p:nvPr/>
        </p:nvSpPr>
        <p:spPr>
          <a:xfrm>
            <a:off x="731519" y="534924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2A93B"/>
                </a:solidFill>
                <a:latin typeface="Microsoft YaHei"/>
              </a:rPr>
              <a:t>⚠ Git 代理配置报错 → 已解决</a:t>
            </a:r>
            <a:endParaRPr/>
          </a:p>
        </p:txBody>
      </p:sp>
      <p:sp>
        <p:nvSpPr>
          <p:cNvPr id="199" name="Oval 13"/>
          <p:cNvSpPr/>
          <p:nvPr/>
        </p:nvSpPr>
        <p:spPr>
          <a:xfrm>
            <a:off x="5961888" y="3081528"/>
            <a:ext cx="365760" cy="36576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TextBox 14"/>
          <p:cNvSpPr txBox="1"/>
          <p:nvPr/>
        </p:nvSpPr>
        <p:spPr>
          <a:xfrm>
            <a:off x="4846320" y="251460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A93B"/>
                </a:solidFill>
                <a:latin typeface="Microsoft YaHei"/>
              </a:rPr>
              <a:t>Day 2  07/29</a:t>
            </a:r>
            <a:endParaRPr/>
          </a:p>
        </p:txBody>
      </p:sp>
      <p:sp>
        <p:nvSpPr>
          <p:cNvPr id="201" name="Rectangle 15"/>
          <p:cNvSpPr/>
          <p:nvPr/>
        </p:nvSpPr>
        <p:spPr>
          <a:xfrm>
            <a:off x="4572000" y="3657600"/>
            <a:ext cx="3108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16"/>
          <p:cNvSpPr/>
          <p:nvPr/>
        </p:nvSpPr>
        <p:spPr>
          <a:xfrm>
            <a:off x="4572000" y="3657600"/>
            <a:ext cx="310896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17"/>
          <p:cNvSpPr txBox="1"/>
          <p:nvPr/>
        </p:nvSpPr>
        <p:spPr>
          <a:xfrm>
            <a:off x="4754880" y="38404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WorkBuddy 入门 + 工具实操</a:t>
            </a:r>
            <a:endParaRPr/>
          </a:p>
        </p:txBody>
      </p:sp>
      <p:sp>
        <p:nvSpPr>
          <p:cNvPr id="204" name="TextBox 18"/>
          <p:cNvSpPr txBox="1"/>
          <p:nvPr/>
        </p:nvSpPr>
        <p:spPr>
          <a:xfrm>
            <a:off x="4754880" y="434340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熟悉 WorkBuddy 六大模块，绘制功能脑图；与 Claude 协作实现小恐龙跑酷游戏。</a:t>
            </a:r>
            <a:endParaRPr/>
          </a:p>
        </p:txBody>
      </p:sp>
      <p:sp>
        <p:nvSpPr>
          <p:cNvPr id="205" name="TextBox 19"/>
          <p:cNvSpPr txBox="1"/>
          <p:nvPr/>
        </p:nvSpPr>
        <p:spPr>
          <a:xfrm>
            <a:off x="4754880" y="534924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2A93B"/>
                </a:solidFill>
                <a:latin typeface="Microsoft YaHei"/>
              </a:rPr>
              <a:t>⚠ Claude Code 下载失败 → 关闭旧进程解决</a:t>
            </a:r>
            <a:endParaRPr/>
          </a:p>
        </p:txBody>
      </p:sp>
      <p:sp>
        <p:nvSpPr>
          <p:cNvPr id="206" name="Oval 20"/>
          <p:cNvSpPr/>
          <p:nvPr/>
        </p:nvSpPr>
        <p:spPr>
          <a:xfrm>
            <a:off x="9985248" y="3081528"/>
            <a:ext cx="365760" cy="365760"/>
          </a:xfrm>
          <a:prstGeom prst="ellipse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1"/>
          <p:cNvSpPr txBox="1"/>
          <p:nvPr/>
        </p:nvSpPr>
        <p:spPr>
          <a:xfrm>
            <a:off x="8869680" y="251460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6FB7"/>
                </a:solidFill>
                <a:latin typeface="Microsoft YaHei"/>
              </a:rPr>
              <a:t>Day 3  07/30</a:t>
            </a:r>
            <a:endParaRPr/>
          </a:p>
        </p:txBody>
      </p:sp>
      <p:sp>
        <p:nvSpPr>
          <p:cNvPr id="208" name="Rectangle 22"/>
          <p:cNvSpPr/>
          <p:nvPr/>
        </p:nvSpPr>
        <p:spPr>
          <a:xfrm>
            <a:off x="8595360" y="3657600"/>
            <a:ext cx="3108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3"/>
          <p:cNvSpPr/>
          <p:nvPr/>
        </p:nvSpPr>
        <p:spPr>
          <a:xfrm>
            <a:off x="8595360" y="3657600"/>
            <a:ext cx="310896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4"/>
          <p:cNvSpPr txBox="1"/>
          <p:nvPr/>
        </p:nvSpPr>
        <p:spPr>
          <a:xfrm>
            <a:off x="8778240" y="38404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</a:rPr>
              <a:t>工作流自动化 + 方法论</a:t>
            </a:r>
            <a:endParaRPr/>
          </a:p>
        </p:txBody>
      </p:sp>
      <p:sp>
        <p:nvSpPr>
          <p:cNvPr id="211" name="TextBox 25"/>
          <p:cNvSpPr txBox="1"/>
          <p:nvPr/>
        </p:nvSpPr>
        <p:spPr>
          <a:xfrm>
            <a:off x="8778240" y="434340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搭建 WorkBuddy 自动化工作流，每月生成知识库 HTML 可视化报告；引入 LLM Wiki 方法论。</a:t>
            </a:r>
            <a:endParaRPr/>
          </a:p>
        </p:txBody>
      </p:sp>
      <p:sp>
        <p:nvSpPr>
          <p:cNvPr id="212" name="TextBox 26"/>
          <p:cNvSpPr txBox="1"/>
          <p:nvPr/>
        </p:nvSpPr>
        <p:spPr>
          <a:xfrm>
            <a:off x="8778240" y="534924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2A93B"/>
                </a:solidFill>
                <a:latin typeface="Microsoft YaHei"/>
              </a:rPr>
              <a:t>⚠ Agent 与 Workflow 边界模糊 → 已厘清</a:t>
            </a:r>
            <a:endParaRPr/>
          </a:p>
        </p:txBody>
      </p:sp>
      <p:sp>
        <p:nvSpPr>
          <p:cNvPr id="213" name="TextBox 27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214" name="TextBox 28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05 / 17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c="http://schemas.openxmlformats.org/drawingml/2006/chart">
  <p:cSld>
    <p:bg>
      <p:bgPr>
        <a:solidFill>
          <a:srgbClr val="FFFFFF"/>
        </a:solidFill>
        <a:effectLst/>
      </p:bgPr>
    </p:bg>
    <p:spTree>
      <p:nvGrpSpPr>
        <p:cNvPr id="2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成果一：AI 知识库体系成型</a:t>
            </a:r>
            <a:endParaRPr/>
          </a:p>
        </p:txBody>
      </p:sp>
      <p:sp>
        <p:nvSpPr>
          <p:cNvPr id="218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DELIVERABLE 1 · KNOWLEDGE BASE</a:t>
            </a:r>
            <a:endParaRPr/>
          </a:p>
        </p:txBody>
      </p:sp>
      <p:sp>
        <p:nvSpPr>
          <p:cNvPr id="219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20" name="Chart 5"/>
          <p:cNvGraphicFramePr/>
          <p:nvPr/>
        </p:nvGraphicFramePr>
        <p:xfrm>
          <a:off x="548640" y="1737360"/>
          <a:ext cx="6400800" cy="420624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221" name="Rectangle 6"/>
          <p:cNvSpPr/>
          <p:nvPr/>
        </p:nvSpPr>
        <p:spPr>
          <a:xfrm>
            <a:off x="7315200" y="1737360"/>
            <a:ext cx="4325112" cy="4206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7"/>
          <p:cNvSpPr/>
          <p:nvPr/>
        </p:nvSpPr>
        <p:spPr>
          <a:xfrm>
            <a:off x="7315200" y="1737360"/>
            <a:ext cx="109728" cy="42062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TextBox 8"/>
          <p:cNvSpPr txBox="1"/>
          <p:nvPr/>
        </p:nvSpPr>
        <p:spPr>
          <a:xfrm>
            <a:off x="7589520" y="192024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结构要点</a:t>
            </a:r>
            <a:endParaRPr/>
          </a:p>
        </p:txBody>
      </p:sp>
      <p:sp>
        <p:nvSpPr>
          <p:cNvPr id="224" name="TextBox 9"/>
          <p:cNvSpPr txBox="1"/>
          <p:nvPr/>
        </p:nvSpPr>
        <p:spPr>
          <a:xfrm>
            <a:off x="7589520" y="2514600"/>
            <a:ext cx="393192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六大分类清晰：概念 / 工具 / 对比 / 日报 / 实践 / 资料</a:t>
            </a: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概念页 10 篇，构成知识体系主干</a:t>
            </a: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核心枢纽：RAG（6 入链）、LLM（5 入链）</a:t>
            </a: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索引页随每次更新自动维护，导航零成本</a:t>
            </a: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全库为 Git 管理的 Markdown，天然带版本历史</a:t>
            </a:r>
            <a:endParaRPr/>
          </a:p>
        </p:txBody>
      </p:sp>
      <p:sp>
        <p:nvSpPr>
          <p:cNvPr id="225" name="TextBox 10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226" name="TextBox 11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06 / 17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2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AI 基础知识要点</a:t>
            </a:r>
            <a:endParaRPr/>
          </a:p>
        </p:txBody>
      </p:sp>
      <p:sp>
        <p:nvSpPr>
          <p:cNvPr id="230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AI FUNDAMENTALS</a:t>
            </a:r>
            <a:endParaRPr/>
          </a:p>
        </p:txBody>
      </p:sp>
      <p:sp>
        <p:nvSpPr>
          <p:cNvPr id="231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TextBox 5"/>
          <p:cNvSpPr txBox="1"/>
          <p:nvPr/>
        </p:nvSpPr>
        <p:spPr>
          <a:xfrm>
            <a:off x="777240" y="14630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7"/>
                </a:solidFill>
                <a:latin typeface="Microsoft YaHei"/>
              </a:rPr>
              <a:t>本周系统掌握 10 个 AI 核心概念，构成工具实践与自动化的知识底座（一句话释义）：</a:t>
            </a:r>
            <a:endParaRPr/>
          </a:p>
        </p:txBody>
      </p:sp>
      <p:sp>
        <p:nvSpPr>
          <p:cNvPr id="233" name="Rectangle 6"/>
          <p:cNvSpPr/>
          <p:nvPr/>
        </p:nvSpPr>
        <p:spPr>
          <a:xfrm>
            <a:off x="548640" y="1965960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Rectangle 7"/>
          <p:cNvSpPr/>
          <p:nvPr/>
        </p:nvSpPr>
        <p:spPr>
          <a:xfrm>
            <a:off x="548640" y="1965960"/>
            <a:ext cx="2057400" cy="8229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TextBox 8"/>
          <p:cNvSpPr txBox="1"/>
          <p:nvPr/>
        </p:nvSpPr>
        <p:spPr>
          <a:xfrm>
            <a:off x="694944" y="2167128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LLM 大语言模型</a:t>
            </a:r>
            <a:endParaRPr/>
          </a:p>
        </p:txBody>
      </p:sp>
      <p:sp>
        <p:nvSpPr>
          <p:cNvPr id="236" name="TextBox 9"/>
          <p:cNvSpPr txBox="1"/>
          <p:nvPr/>
        </p:nvSpPr>
        <p:spPr>
          <a:xfrm>
            <a:off x="694944" y="2679191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理解并生成自然语言的 AI 基础模型</a:t>
            </a:r>
            <a:endParaRPr/>
          </a:p>
        </p:txBody>
      </p:sp>
      <p:sp>
        <p:nvSpPr>
          <p:cNvPr id="237" name="Rectangle 10"/>
          <p:cNvSpPr/>
          <p:nvPr/>
        </p:nvSpPr>
        <p:spPr>
          <a:xfrm>
            <a:off x="2770632" y="1965960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Rectangle 11"/>
          <p:cNvSpPr/>
          <p:nvPr/>
        </p:nvSpPr>
        <p:spPr>
          <a:xfrm>
            <a:off x="2770632" y="1965960"/>
            <a:ext cx="2057400" cy="82296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12"/>
          <p:cNvSpPr txBox="1"/>
          <p:nvPr/>
        </p:nvSpPr>
        <p:spPr>
          <a:xfrm>
            <a:off x="2916936" y="2167128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Token</a:t>
            </a:r>
            <a:endParaRPr/>
          </a:p>
        </p:txBody>
      </p:sp>
      <p:sp>
        <p:nvSpPr>
          <p:cNvPr id="240" name="TextBox 13"/>
          <p:cNvSpPr txBox="1"/>
          <p:nvPr/>
        </p:nvSpPr>
        <p:spPr>
          <a:xfrm>
            <a:off x="2916936" y="2679191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模型处理的最小文本单位，也决定计费</a:t>
            </a:r>
            <a:endParaRPr/>
          </a:p>
        </p:txBody>
      </p:sp>
      <p:sp>
        <p:nvSpPr>
          <p:cNvPr id="241" name="Rectangle 14"/>
          <p:cNvSpPr/>
          <p:nvPr/>
        </p:nvSpPr>
        <p:spPr>
          <a:xfrm>
            <a:off x="4992624" y="1965960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15"/>
          <p:cNvSpPr/>
          <p:nvPr/>
        </p:nvSpPr>
        <p:spPr>
          <a:xfrm>
            <a:off x="4992624" y="1965960"/>
            <a:ext cx="2057400" cy="8229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TextBox 16"/>
          <p:cNvSpPr txBox="1"/>
          <p:nvPr/>
        </p:nvSpPr>
        <p:spPr>
          <a:xfrm>
            <a:off x="5138928" y="2167128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上下文窗口</a:t>
            </a:r>
            <a:endParaRPr/>
          </a:p>
        </p:txBody>
      </p:sp>
      <p:sp>
        <p:nvSpPr>
          <p:cNvPr id="244" name="TextBox 17"/>
          <p:cNvSpPr txBox="1"/>
          <p:nvPr/>
        </p:nvSpPr>
        <p:spPr>
          <a:xfrm>
            <a:off x="5138928" y="2679191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模型单次能"记住"的最大文本量</a:t>
            </a:r>
            <a:endParaRPr/>
          </a:p>
        </p:txBody>
      </p:sp>
      <p:sp>
        <p:nvSpPr>
          <p:cNvPr id="245" name="Rectangle 18"/>
          <p:cNvSpPr/>
          <p:nvPr/>
        </p:nvSpPr>
        <p:spPr>
          <a:xfrm>
            <a:off x="7214616" y="1965960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19"/>
          <p:cNvSpPr/>
          <p:nvPr/>
        </p:nvSpPr>
        <p:spPr>
          <a:xfrm>
            <a:off x="7214616" y="1965960"/>
            <a:ext cx="2057400" cy="82296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TextBox 20"/>
          <p:cNvSpPr txBox="1"/>
          <p:nvPr/>
        </p:nvSpPr>
        <p:spPr>
          <a:xfrm>
            <a:off x="7360919" y="2167128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幻觉</a:t>
            </a:r>
            <a:endParaRPr/>
          </a:p>
        </p:txBody>
      </p:sp>
      <p:sp>
        <p:nvSpPr>
          <p:cNvPr id="248" name="TextBox 21"/>
          <p:cNvSpPr txBox="1"/>
          <p:nvPr/>
        </p:nvSpPr>
        <p:spPr>
          <a:xfrm>
            <a:off x="7360919" y="2679191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生成看似合理却错误的内容</a:t>
            </a:r>
            <a:endParaRPr/>
          </a:p>
        </p:txBody>
      </p:sp>
      <p:sp>
        <p:nvSpPr>
          <p:cNvPr id="249" name="Rectangle 22"/>
          <p:cNvSpPr/>
          <p:nvPr/>
        </p:nvSpPr>
        <p:spPr>
          <a:xfrm>
            <a:off x="9436608" y="1965960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Rectangle 23"/>
          <p:cNvSpPr/>
          <p:nvPr/>
        </p:nvSpPr>
        <p:spPr>
          <a:xfrm>
            <a:off x="9436608" y="1965960"/>
            <a:ext cx="2057400" cy="8229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4"/>
          <p:cNvSpPr txBox="1"/>
          <p:nvPr/>
        </p:nvSpPr>
        <p:spPr>
          <a:xfrm>
            <a:off x="9582912" y="2167128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Agent 智能体</a:t>
            </a:r>
            <a:endParaRPr/>
          </a:p>
        </p:txBody>
      </p:sp>
      <p:sp>
        <p:nvSpPr>
          <p:cNvPr id="252" name="TextBox 25"/>
          <p:cNvSpPr txBox="1"/>
          <p:nvPr/>
        </p:nvSpPr>
        <p:spPr>
          <a:xfrm>
            <a:off x="9582912" y="2679191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能推理、调用工具自主完成任务</a:t>
            </a:r>
            <a:endParaRPr/>
          </a:p>
        </p:txBody>
      </p:sp>
      <p:sp>
        <p:nvSpPr>
          <p:cNvPr id="253" name="Rectangle 26"/>
          <p:cNvSpPr/>
          <p:nvPr/>
        </p:nvSpPr>
        <p:spPr>
          <a:xfrm>
            <a:off x="548640" y="3977639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Rectangle 27"/>
          <p:cNvSpPr/>
          <p:nvPr/>
        </p:nvSpPr>
        <p:spPr>
          <a:xfrm>
            <a:off x="548640" y="3977639"/>
            <a:ext cx="2057400" cy="82296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TextBox 28"/>
          <p:cNvSpPr txBox="1"/>
          <p:nvPr/>
        </p:nvSpPr>
        <p:spPr>
          <a:xfrm>
            <a:off x="694944" y="4178807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RAG 检索增强</a:t>
            </a:r>
            <a:endParaRPr/>
          </a:p>
        </p:txBody>
      </p:sp>
      <p:sp>
        <p:nvSpPr>
          <p:cNvPr id="256" name="TextBox 29"/>
          <p:cNvSpPr txBox="1"/>
          <p:nvPr/>
        </p:nvSpPr>
        <p:spPr>
          <a:xfrm>
            <a:off x="694944" y="4690872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先检索资料再生成，抑制幻觉</a:t>
            </a:r>
            <a:endParaRPr/>
          </a:p>
        </p:txBody>
      </p:sp>
      <p:sp>
        <p:nvSpPr>
          <p:cNvPr id="257" name="Rectangle 30"/>
          <p:cNvSpPr/>
          <p:nvPr/>
        </p:nvSpPr>
        <p:spPr>
          <a:xfrm>
            <a:off x="2770632" y="3977639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Rectangle 31"/>
          <p:cNvSpPr/>
          <p:nvPr/>
        </p:nvSpPr>
        <p:spPr>
          <a:xfrm>
            <a:off x="2770632" y="3977639"/>
            <a:ext cx="2057400" cy="8229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TextBox 32"/>
          <p:cNvSpPr txBox="1"/>
          <p:nvPr/>
        </p:nvSpPr>
        <p:spPr>
          <a:xfrm>
            <a:off x="2916936" y="4178807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向量数据库</a:t>
            </a:r>
            <a:endParaRPr/>
          </a:p>
        </p:txBody>
      </p:sp>
      <p:sp>
        <p:nvSpPr>
          <p:cNvPr id="260" name="TextBox 33"/>
          <p:cNvSpPr txBox="1"/>
          <p:nvPr/>
        </p:nvSpPr>
        <p:spPr>
          <a:xfrm>
            <a:off x="2916936" y="4690872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用语义向量存储与检索知识</a:t>
            </a:r>
            <a:endParaRPr/>
          </a:p>
        </p:txBody>
      </p:sp>
      <p:sp>
        <p:nvSpPr>
          <p:cNvPr id="261" name="Rectangle 34"/>
          <p:cNvSpPr/>
          <p:nvPr/>
        </p:nvSpPr>
        <p:spPr>
          <a:xfrm>
            <a:off x="4992624" y="3977639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ectangle 35"/>
          <p:cNvSpPr/>
          <p:nvPr/>
        </p:nvSpPr>
        <p:spPr>
          <a:xfrm>
            <a:off x="4992624" y="3977639"/>
            <a:ext cx="2057400" cy="82296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TextBox 36"/>
          <p:cNvSpPr txBox="1"/>
          <p:nvPr/>
        </p:nvSpPr>
        <p:spPr>
          <a:xfrm>
            <a:off x="5138928" y="4178807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MCP 协议</a:t>
            </a:r>
            <a:endParaRPr/>
          </a:p>
        </p:txBody>
      </p:sp>
      <p:sp>
        <p:nvSpPr>
          <p:cNvPr id="264" name="TextBox 37"/>
          <p:cNvSpPr txBox="1"/>
          <p:nvPr/>
        </p:nvSpPr>
        <p:spPr>
          <a:xfrm>
            <a:off x="5138928" y="4690872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AI 工具统一通信标准，即插即用</a:t>
            </a:r>
            <a:endParaRPr/>
          </a:p>
        </p:txBody>
      </p:sp>
      <p:sp>
        <p:nvSpPr>
          <p:cNvPr id="265" name="Rectangle 38"/>
          <p:cNvSpPr/>
          <p:nvPr/>
        </p:nvSpPr>
        <p:spPr>
          <a:xfrm>
            <a:off x="7214616" y="3977639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Rectangle 39"/>
          <p:cNvSpPr/>
          <p:nvPr/>
        </p:nvSpPr>
        <p:spPr>
          <a:xfrm>
            <a:off x="7214616" y="3977639"/>
            <a:ext cx="2057400" cy="8229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TextBox 40"/>
          <p:cNvSpPr txBox="1"/>
          <p:nvPr/>
        </p:nvSpPr>
        <p:spPr>
          <a:xfrm>
            <a:off x="7360919" y="4178807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Prompt 工程</a:t>
            </a:r>
            <a:endParaRPr/>
          </a:p>
        </p:txBody>
      </p:sp>
      <p:sp>
        <p:nvSpPr>
          <p:cNvPr id="268" name="TextBox 41"/>
          <p:cNvSpPr txBox="1"/>
          <p:nvPr/>
        </p:nvSpPr>
        <p:spPr>
          <a:xfrm>
            <a:off x="7360919" y="4690872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用提示词引导模型更准地输出</a:t>
            </a:r>
            <a:endParaRPr/>
          </a:p>
        </p:txBody>
      </p:sp>
      <p:sp>
        <p:nvSpPr>
          <p:cNvPr id="269" name="Rectangle 42"/>
          <p:cNvSpPr/>
          <p:nvPr/>
        </p:nvSpPr>
        <p:spPr>
          <a:xfrm>
            <a:off x="9436608" y="3977639"/>
            <a:ext cx="2057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43"/>
          <p:cNvSpPr/>
          <p:nvPr/>
        </p:nvSpPr>
        <p:spPr>
          <a:xfrm>
            <a:off x="9436608" y="3977639"/>
            <a:ext cx="2057400" cy="82296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TextBox 44"/>
          <p:cNvSpPr txBox="1"/>
          <p:nvPr/>
        </p:nvSpPr>
        <p:spPr>
          <a:xfrm>
            <a:off x="9582912" y="4178807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Microsoft YaHei"/>
              </a:rPr>
              <a:t>Fine-tuning 微调</a:t>
            </a:r>
            <a:endParaRPr/>
          </a:p>
        </p:txBody>
      </p:sp>
      <p:sp>
        <p:nvSpPr>
          <p:cNvPr id="272" name="TextBox 45"/>
          <p:cNvSpPr txBox="1"/>
          <p:nvPr/>
        </p:nvSpPr>
        <p:spPr>
          <a:xfrm>
            <a:off x="9582912" y="4690872"/>
            <a:ext cx="1764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用专属数据定制模型能力</a:t>
            </a:r>
            <a:endParaRPr/>
          </a:p>
        </p:txBody>
      </p:sp>
      <p:sp>
        <p:nvSpPr>
          <p:cNvPr id="273" name="TextBox 46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274" name="TextBox 47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07 / 17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2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"/>
          <p:cNvPicPr>
            <a:picLocks noChangeAspect="1"/>
          </p:cNvPicPr>
          <p:nvPr/>
        </p:nvPicPr>
        <p:blipFill>
          <a:blip r:embed="rId1"/>
          <a:srcRect l="1378" t="2862" r="-1378" b="23052"/>
          <a:stretch>
            <a:fillRect/>
          </a:stretch>
        </p:blipFill>
        <p:spPr>
          <a:xfrm rot="0" flipH="0" flipV="0">
            <a:off x="368359" y="1728261"/>
            <a:ext cx="4791807" cy="5129739"/>
          </a:xfrm>
          <a:prstGeom prst="rect"/>
        </p:spPr>
      </p:pic>
      <p:sp>
        <p:nvSpPr>
          <p:cNvPr id="277" name=""/>
          <p:cNvSpPr txBox="1"/>
          <p:nvPr/>
        </p:nvSpPr>
        <p:spPr>
          <a:xfrm rot="0" flipH="0" flipV="0">
            <a:off x="568748" y="708183"/>
            <a:ext cx="3244850" cy="4572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en-US" sz="2400" b="1"/>
              <a:t>AI</a:t>
            </a:r>
            <a:r>
              <a:rPr lang="zh-CN" sz="2400" b="1"/>
              <a:t>基础知识的关系网络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2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成果二：WorkBuddy 自动化工作流</a:t>
            </a:r>
            <a:endParaRPr/>
          </a:p>
        </p:txBody>
      </p:sp>
      <p:sp>
        <p:nvSpPr>
          <p:cNvPr id="281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DELIVERABLE 2 · AUTOMATION</a:t>
            </a:r>
            <a:endParaRPr/>
          </a:p>
        </p:txBody>
      </p:sp>
      <p:sp>
        <p:nvSpPr>
          <p:cNvPr id="282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Rectangle 5"/>
          <p:cNvSpPr/>
          <p:nvPr/>
        </p:nvSpPr>
        <p:spPr>
          <a:xfrm>
            <a:off x="548640" y="2286000"/>
            <a:ext cx="24688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Rectangle 6"/>
          <p:cNvSpPr/>
          <p:nvPr/>
        </p:nvSpPr>
        <p:spPr>
          <a:xfrm>
            <a:off x="548640" y="2286000"/>
            <a:ext cx="246888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7"/>
          <p:cNvSpPr txBox="1"/>
          <p:nvPr/>
        </p:nvSpPr>
        <p:spPr>
          <a:xfrm>
            <a:off x="685800" y="248716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7"/>
                </a:solidFill>
                <a:latin typeface="Microsoft YaHei"/>
              </a:rPr>
              <a:t>步骤 1</a:t>
            </a:r>
            <a:endParaRPr/>
          </a:p>
        </p:txBody>
      </p:sp>
      <p:sp>
        <p:nvSpPr>
          <p:cNvPr id="286" name="TextBox 8"/>
          <p:cNvSpPr txBox="1"/>
          <p:nvPr/>
        </p:nvSpPr>
        <p:spPr>
          <a:xfrm>
            <a:off x="685800" y="28529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原始 MD 文件</a:t>
            </a:r>
            <a:endParaRPr/>
          </a:p>
        </p:txBody>
      </p:sp>
      <p:sp>
        <p:nvSpPr>
          <p:cNvPr id="287" name="TextBox 9"/>
          <p:cNvSpPr txBox="1"/>
          <p:nvPr/>
        </p:nvSpPr>
        <p:spPr>
          <a:xfrm>
            <a:off x="685800" y="3310128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Obsidian 知识库
全部 .md 文档</a:t>
            </a:r>
            <a:endParaRPr/>
          </a:p>
        </p:txBody>
      </p:sp>
      <p:sp>
        <p:nvSpPr>
          <p:cNvPr id="288" name="TextBox 10"/>
          <p:cNvSpPr txBox="1"/>
          <p:nvPr/>
        </p:nvSpPr>
        <p:spPr>
          <a:xfrm>
            <a:off x="2999232" y="2286000"/>
            <a:ext cx="41148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  <a:endParaRPr/>
          </a:p>
        </p:txBody>
      </p:sp>
      <p:sp>
        <p:nvSpPr>
          <p:cNvPr id="289" name="Rectangle 11"/>
          <p:cNvSpPr/>
          <p:nvPr/>
        </p:nvSpPr>
        <p:spPr>
          <a:xfrm>
            <a:off x="3246120" y="2286000"/>
            <a:ext cx="24688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Rectangle 12"/>
          <p:cNvSpPr/>
          <p:nvPr/>
        </p:nvSpPr>
        <p:spPr>
          <a:xfrm>
            <a:off x="3246120" y="2286000"/>
            <a:ext cx="246888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TextBox 13"/>
          <p:cNvSpPr txBox="1"/>
          <p:nvPr/>
        </p:nvSpPr>
        <p:spPr>
          <a:xfrm>
            <a:off x="3383279" y="248716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93B"/>
                </a:solidFill>
                <a:latin typeface="Microsoft YaHei"/>
              </a:rPr>
              <a:t>步骤 2</a:t>
            </a:r>
            <a:endParaRPr/>
          </a:p>
        </p:txBody>
      </p:sp>
      <p:sp>
        <p:nvSpPr>
          <p:cNvPr id="292" name="TextBox 14"/>
          <p:cNvSpPr txBox="1"/>
          <p:nvPr/>
        </p:nvSpPr>
        <p:spPr>
          <a:xfrm>
            <a:off x="3383279" y="28529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扫描与统计</a:t>
            </a:r>
            <a:endParaRPr/>
          </a:p>
        </p:txBody>
      </p:sp>
      <p:sp>
        <p:nvSpPr>
          <p:cNvPr id="293" name="TextBox 15"/>
          <p:cNvSpPr txBox="1"/>
          <p:nvPr/>
        </p:nvSpPr>
        <p:spPr>
          <a:xfrm>
            <a:off x="3383279" y="3310128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目录文件数 / 总字数
Wiki 链接 / 标签分布</a:t>
            </a:r>
            <a:endParaRPr/>
          </a:p>
        </p:txBody>
      </p:sp>
      <p:sp>
        <p:nvSpPr>
          <p:cNvPr id="294" name="TextBox 16"/>
          <p:cNvSpPr txBox="1"/>
          <p:nvPr/>
        </p:nvSpPr>
        <p:spPr>
          <a:xfrm>
            <a:off x="5696712" y="2286000"/>
            <a:ext cx="41148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  <a:endParaRPr/>
          </a:p>
        </p:txBody>
      </p:sp>
      <p:sp>
        <p:nvSpPr>
          <p:cNvPr id="295" name="Rectangle 17"/>
          <p:cNvSpPr/>
          <p:nvPr/>
        </p:nvSpPr>
        <p:spPr>
          <a:xfrm>
            <a:off x="5943600" y="2286000"/>
            <a:ext cx="24688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Rectangle 18"/>
          <p:cNvSpPr/>
          <p:nvPr/>
        </p:nvSpPr>
        <p:spPr>
          <a:xfrm>
            <a:off x="5943600" y="2286000"/>
            <a:ext cx="246888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TextBox 19"/>
          <p:cNvSpPr txBox="1"/>
          <p:nvPr/>
        </p:nvSpPr>
        <p:spPr>
          <a:xfrm>
            <a:off x="6080760" y="248716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7"/>
                </a:solidFill>
                <a:latin typeface="Microsoft YaHei"/>
              </a:rPr>
              <a:t>步骤 3</a:t>
            </a:r>
            <a:endParaRPr/>
          </a:p>
        </p:txBody>
      </p:sp>
      <p:sp>
        <p:nvSpPr>
          <p:cNvPr id="298" name="TextBox 20"/>
          <p:cNvSpPr txBox="1"/>
          <p:nvPr/>
        </p:nvSpPr>
        <p:spPr>
          <a:xfrm>
            <a:off x="6080760" y="28529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HTML 可视化报告</a:t>
            </a:r>
            <a:endParaRPr/>
          </a:p>
        </p:txBody>
      </p:sp>
      <p:sp>
        <p:nvSpPr>
          <p:cNvPr id="299" name="TextBox 21"/>
          <p:cNvSpPr txBox="1"/>
          <p:nvPr/>
        </p:nvSpPr>
        <p:spPr>
          <a:xfrm>
            <a:off x="6080760" y="3310128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图谱概览 / 笔记热度
双链统计等关键指标</a:t>
            </a:r>
            <a:endParaRPr/>
          </a:p>
        </p:txBody>
      </p:sp>
      <p:sp>
        <p:nvSpPr>
          <p:cNvPr id="300" name="TextBox 22"/>
          <p:cNvSpPr txBox="1"/>
          <p:nvPr/>
        </p:nvSpPr>
        <p:spPr>
          <a:xfrm>
            <a:off x="8394192" y="2286000"/>
            <a:ext cx="41148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  <a:endParaRPr/>
          </a:p>
        </p:txBody>
      </p:sp>
      <p:sp>
        <p:nvSpPr>
          <p:cNvPr id="301" name="Rectangle 23"/>
          <p:cNvSpPr/>
          <p:nvPr/>
        </p:nvSpPr>
        <p:spPr>
          <a:xfrm>
            <a:off x="8641080" y="2286000"/>
            <a:ext cx="24688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Rectangle 24"/>
          <p:cNvSpPr/>
          <p:nvPr/>
        </p:nvSpPr>
        <p:spPr>
          <a:xfrm>
            <a:off x="8641080" y="2286000"/>
            <a:ext cx="246888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TextBox 25"/>
          <p:cNvSpPr txBox="1"/>
          <p:nvPr/>
        </p:nvSpPr>
        <p:spPr>
          <a:xfrm>
            <a:off x="8778240" y="248716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93B"/>
                </a:solidFill>
                <a:latin typeface="Microsoft YaHei"/>
              </a:rPr>
              <a:t>步骤 4</a:t>
            </a:r>
            <a:endParaRPr/>
          </a:p>
        </p:txBody>
      </p:sp>
      <p:sp>
        <p:nvSpPr>
          <p:cNvPr id="304" name="TextBox 26"/>
          <p:cNvSpPr txBox="1"/>
          <p:nvPr/>
        </p:nvSpPr>
        <p:spPr>
          <a:xfrm>
            <a:off x="8778240" y="28529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每月 1 号自动生成</a:t>
            </a:r>
            <a:endParaRPr/>
          </a:p>
        </p:txBody>
      </p:sp>
      <p:sp>
        <p:nvSpPr>
          <p:cNvPr id="305" name="TextBox 27"/>
          <p:cNvSpPr txBox="1"/>
          <p:nvPr/>
        </p:nvSpPr>
        <p:spPr>
          <a:xfrm>
            <a:off x="8778240" y="3310128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</a:rPr>
              <a:t>定时调度
零人工复盘</a:t>
            </a:r>
            <a:endParaRPr/>
          </a:p>
        </p:txBody>
      </p:sp>
      <p:sp>
        <p:nvSpPr>
          <p:cNvPr id="306" name="Rectangle 28"/>
          <p:cNvSpPr/>
          <p:nvPr/>
        </p:nvSpPr>
        <p:spPr>
          <a:xfrm>
            <a:off x="548640" y="4434840"/>
            <a:ext cx="11091672" cy="1371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TextBox 29"/>
          <p:cNvSpPr txBox="1"/>
          <p:nvPr/>
        </p:nvSpPr>
        <p:spPr>
          <a:xfrm>
            <a:off x="822960" y="457200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2A93B"/>
                </a:solidFill>
                <a:latin typeface="Microsoft YaHei"/>
              </a:rPr>
              <a:t>业务价值</a:t>
            </a:r>
            <a:endParaRPr/>
          </a:p>
        </p:txBody>
      </p:sp>
      <p:sp>
        <p:nvSpPr>
          <p:cNvPr id="308" name="TextBox 30"/>
          <p:cNvSpPr txBox="1"/>
          <p:nvPr/>
        </p:nvSpPr>
        <p:spPr>
          <a:xfrm>
            <a:off x="822960" y="5029200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• 知识复盘从手动整理升级为自动化流水线，显著降低成本；</a:t>
            </a: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• 积累"图谱 + 热度 + 双链"量化指标，为数据驱动的知识管理打底。</a:t>
            </a:r>
            <a:endParaRPr/>
          </a:p>
        </p:txBody>
      </p:sp>
      <p:sp>
        <p:nvSpPr>
          <p:cNvPr id="309" name="TextBox 31"/>
          <p:cNvSpPr txBox="1"/>
          <p:nvPr/>
        </p:nvSpPr>
        <p:spPr>
          <a:xfrm>
            <a:off x="548640" y="40690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u="sng">
                <a:solidFill>
                  <a:srgbClr val="2E6FB7"/>
                </a:solidFill>
                <a:latin typeface="Microsoft YaHei"/>
                <a:hlinkClick r:id="rId1"/>
              </a:rPr>
              <a:t>查看自动生成的月度知识库可视化报告  →</a:t>
            </a:r>
            <a:endParaRPr/>
          </a:p>
        </p:txBody>
      </p:sp>
      <p:sp>
        <p:nvSpPr>
          <p:cNvPr id="310" name="TextBox 32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311" name="TextBox 33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08 / 17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-429313" y="318030"/>
            <a:ext cx="7052659" cy="3051629"/>
          </a:xfrm>
          <a:prstGeom prst="rect"/>
        </p:spPr>
      </p:pic>
      <p:pic>
        <p:nvPicPr>
          <p:cNvPr id="12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6411075" y="0"/>
            <a:ext cx="6123681" cy="3687688"/>
          </a:xfrm>
          <a:prstGeom prst="rect"/>
        </p:spPr>
      </p:pic>
      <p:pic>
        <p:nvPicPr>
          <p:cNvPr id="13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-341249" y="3687688"/>
            <a:ext cx="12191695" cy="3315352"/>
          </a:xfrm>
          <a:prstGeom prst="rect"/>
        </p:spPr>
      </p:pic>
      <p:sp>
        <p:nvSpPr>
          <p:cNvPr id="14" name=""/>
          <p:cNvSpPr txBox="1"/>
          <p:nvPr/>
        </p:nvSpPr>
        <p:spPr>
          <a:xfrm rot="0">
            <a:off x="1823663" y="-51371"/>
            <a:ext cx="1993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/>
            <a:r>
              <a:rPr lang="zh-CN" sz="2000" b="1"/>
              <a:t>自动化结果展示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成果三：AI 工具实操与对比</a:t>
            </a:r>
            <a:endParaRPr/>
          </a:p>
        </p:txBody>
      </p:sp>
      <p:sp>
        <p:nvSpPr>
          <p:cNvPr id="18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DELIVERABLE 3 · TOOLS</a:t>
            </a:r>
            <a:endParaRPr/>
          </a:p>
        </p:txBody>
      </p:sp>
      <p:sp>
        <p:nvSpPr>
          <p:cNvPr id="19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5"/>
          <p:cNvSpPr/>
          <p:nvPr/>
        </p:nvSpPr>
        <p:spPr>
          <a:xfrm>
            <a:off x="548640" y="1691640"/>
            <a:ext cx="5394960" cy="4251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6"/>
          <p:cNvSpPr/>
          <p:nvPr/>
        </p:nvSpPr>
        <p:spPr>
          <a:xfrm>
            <a:off x="548640" y="1691640"/>
            <a:ext cx="109728" cy="425196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7"/>
          <p:cNvSpPr txBox="1"/>
          <p:nvPr/>
        </p:nvSpPr>
        <p:spPr>
          <a:xfrm>
            <a:off x="868680" y="1874519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编码智能体实测</a:t>
            </a:r>
            <a:endParaRPr/>
          </a:p>
        </p:txBody>
      </p:sp>
      <p:sp>
        <p:nvSpPr>
          <p:cNvPr id="23" name="TextBox 8"/>
          <p:cNvSpPr txBox="1"/>
          <p:nvPr/>
        </p:nvSpPr>
        <p:spPr>
          <a:xfrm>
            <a:off x="868680" y="2377440"/>
            <a:ext cx="493776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Claude Code：安装与工程化协作实测</a:t>
            </a: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Codex（OpenAI CLI Agent）概览与对比</a:t>
            </a: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完成 AI 助手横向对比：Claude / ChatGPT / Gemini / DeepSeek</a:t>
            </a: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产出可运行 Demo：小恐龙跑酷游戏（三档速度）</a:t>
            </a: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验证"人提需求 + Agent 协作开发"的可用性</a:t>
            </a:r>
            <a:endParaRPr/>
          </a:p>
        </p:txBody>
      </p:sp>
      <p:sp>
        <p:nvSpPr>
          <p:cNvPr id="24" name="Rectangle 9"/>
          <p:cNvSpPr/>
          <p:nvPr/>
        </p:nvSpPr>
        <p:spPr>
          <a:xfrm>
            <a:off x="6126480" y="1691640"/>
            <a:ext cx="5513832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10"/>
          <p:cNvSpPr/>
          <p:nvPr/>
        </p:nvSpPr>
        <p:spPr>
          <a:xfrm>
            <a:off x="6126480" y="1691640"/>
            <a:ext cx="5513832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1"/>
          <p:cNvSpPr txBox="1"/>
          <p:nvPr/>
        </p:nvSpPr>
        <p:spPr>
          <a:xfrm>
            <a:off x="6400800" y="1874519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Microsoft YaHei"/>
              </a:rPr>
              <a:t>关键结论</a:t>
            </a:r>
            <a:endParaRPr/>
          </a:p>
        </p:txBody>
      </p:sp>
      <p:sp>
        <p:nvSpPr>
          <p:cNvPr id="27" name="TextBox 12"/>
          <p:cNvSpPr txBox="1"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各助手定位不同：Claude 工程协作强，Gemini 长上下文，DeepSeek 性价比高</a:t>
            </a:r>
            <a:endParaRPr/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编码 Agent 适合"脚手架 + 迭代"，关键在需求拆解与验收</a:t>
            </a:r>
            <a:endParaRPr/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WorkBuddy 优势在"多模块 + 连接器 + 工作流"一体化</a:t>
            </a:r>
            <a:endParaRPr/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• 选择建议：按任务类型组合使用，而非单一依赖</a:t>
            </a:r>
            <a:endParaRPr/>
          </a:p>
        </p:txBody>
      </p:sp>
      <p:sp>
        <p:nvSpPr>
          <p:cNvPr id="28" name="TextBox 13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29" name="TextBox 14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09 / 17</a:t>
            </a:r>
            <a:endParaRPr/>
          </a:p>
        </p:txBody>
      </p:sp>
      <p:sp>
        <p:nvSpPr>
          <p:cNvPr id="30" name=""/>
          <p:cNvSpPr txBox="1"/>
          <p:nvPr/>
        </p:nvSpPr>
        <p:spPr>
          <a:xfrm rot="0" flipH="0" flipV="0">
            <a:off x="777240" y="4177538"/>
            <a:ext cx="3038367" cy="3683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/>
            <a:r>
              <a:rPr lang="en-US">
                <a:hlinkClick r:id="rId1"/>
              </a:rPr>
              <a:t>Claude编译的小恐龙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75801"/>
            <a:ext cx="12191695" cy="5306398"/>
          </a:xfrm>
          <a:prstGeom prst="rect"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方法论沉淀：LLM Wiki 知识管理法</a:t>
            </a:r>
            <a:endParaRPr/>
          </a:p>
        </p:txBody>
      </p:sp>
      <p:sp>
        <p:nvSpPr>
          <p:cNvPr id="36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METHODOLOGY</a:t>
            </a:r>
            <a:endParaRPr/>
          </a:p>
        </p:txBody>
      </p:sp>
      <p:sp>
        <p:nvSpPr>
          <p:cNvPr id="37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5"/>
          <p:cNvSpPr/>
          <p:nvPr/>
        </p:nvSpPr>
        <p:spPr>
          <a:xfrm>
            <a:off x="548640" y="1783080"/>
            <a:ext cx="3200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6"/>
          <p:cNvSpPr/>
          <p:nvPr/>
        </p:nvSpPr>
        <p:spPr>
          <a:xfrm>
            <a:off x="548640" y="1783080"/>
            <a:ext cx="320040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7"/>
          <p:cNvSpPr txBox="1"/>
          <p:nvPr/>
        </p:nvSpPr>
        <p:spPr>
          <a:xfrm>
            <a:off x="731520" y="196596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RAW SOURCES</a:t>
            </a:r>
            <a:endParaRPr/>
          </a:p>
        </p:txBody>
      </p:sp>
      <p:sp>
        <p:nvSpPr>
          <p:cNvPr id="41" name="TextBox 8"/>
          <p:cNvSpPr txBox="1"/>
          <p:nvPr/>
        </p:nvSpPr>
        <p:spPr>
          <a:xfrm>
            <a:off x="731520" y="228600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原始素材层</a:t>
            </a:r>
            <a:endParaRPr/>
          </a:p>
        </p:txBody>
      </p:sp>
      <p:sp>
        <p:nvSpPr>
          <p:cNvPr id="42" name="TextBox 9"/>
          <p:cNvSpPr txBox="1"/>
          <p:nvPr/>
        </p:nvSpPr>
        <p:spPr>
          <a:xfrm>
            <a:off x="731520" y="278892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文章 / 论文 / 数据，只读不可改，作为事实源。</a:t>
            </a:r>
            <a:endParaRPr/>
          </a:p>
        </p:txBody>
      </p:sp>
      <p:sp>
        <p:nvSpPr>
          <p:cNvPr id="43" name="TextBox 10"/>
          <p:cNvSpPr txBox="1"/>
          <p:nvPr/>
        </p:nvSpPr>
        <p:spPr>
          <a:xfrm>
            <a:off x="3730752" y="1783080"/>
            <a:ext cx="41148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  <a:endParaRPr/>
          </a:p>
        </p:txBody>
      </p:sp>
      <p:sp>
        <p:nvSpPr>
          <p:cNvPr id="44" name="Rectangle 11"/>
          <p:cNvSpPr/>
          <p:nvPr/>
        </p:nvSpPr>
        <p:spPr>
          <a:xfrm>
            <a:off x="4434840" y="1783080"/>
            <a:ext cx="3200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12"/>
          <p:cNvSpPr/>
          <p:nvPr/>
        </p:nvSpPr>
        <p:spPr>
          <a:xfrm>
            <a:off x="4434840" y="1783080"/>
            <a:ext cx="3200400" cy="914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13"/>
          <p:cNvSpPr txBox="1"/>
          <p:nvPr/>
        </p:nvSpPr>
        <p:spPr>
          <a:xfrm>
            <a:off x="4617720" y="196596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A93B"/>
                </a:solidFill>
                <a:latin typeface="Microsoft YaHei"/>
              </a:rPr>
              <a:t>THE WIKI</a:t>
            </a:r>
            <a:endParaRPr/>
          </a:p>
        </p:txBody>
      </p:sp>
      <p:sp>
        <p:nvSpPr>
          <p:cNvPr id="47" name="TextBox 14"/>
          <p:cNvSpPr txBox="1"/>
          <p:nvPr/>
        </p:nvSpPr>
        <p:spPr>
          <a:xfrm>
            <a:off x="4617720" y="228600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知识库层</a:t>
            </a:r>
            <a:endParaRPr/>
          </a:p>
        </p:txBody>
      </p:sp>
      <p:sp>
        <p:nvSpPr>
          <p:cNvPr id="48" name="TextBox 15"/>
          <p:cNvSpPr txBox="1"/>
          <p:nvPr/>
        </p:nvSpPr>
        <p:spPr>
          <a:xfrm>
            <a:off x="4617720" y="278892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LLM 生成的 Markdown 体系：摘要 / 概念 / 对比 / 索引。</a:t>
            </a:r>
            <a:endParaRPr/>
          </a:p>
        </p:txBody>
      </p:sp>
      <p:sp>
        <p:nvSpPr>
          <p:cNvPr id="49" name="TextBox 16"/>
          <p:cNvSpPr txBox="1"/>
          <p:nvPr/>
        </p:nvSpPr>
        <p:spPr>
          <a:xfrm>
            <a:off x="7616952" y="1783080"/>
            <a:ext cx="41148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→</a:t>
            </a:r>
            <a:endParaRPr/>
          </a:p>
        </p:txBody>
      </p:sp>
      <p:sp>
        <p:nvSpPr>
          <p:cNvPr id="50" name="Rectangle 17"/>
          <p:cNvSpPr/>
          <p:nvPr/>
        </p:nvSpPr>
        <p:spPr>
          <a:xfrm>
            <a:off x="8321040" y="1783080"/>
            <a:ext cx="3200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18"/>
          <p:cNvSpPr/>
          <p:nvPr/>
        </p:nvSpPr>
        <p:spPr>
          <a:xfrm>
            <a:off x="8321040" y="1783080"/>
            <a:ext cx="3200400" cy="9144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19"/>
          <p:cNvSpPr txBox="1"/>
          <p:nvPr/>
        </p:nvSpPr>
        <p:spPr>
          <a:xfrm>
            <a:off x="8503919" y="196596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THE SCHEMA</a:t>
            </a:r>
            <a:endParaRPr/>
          </a:p>
        </p:txBody>
      </p:sp>
      <p:sp>
        <p:nvSpPr>
          <p:cNvPr id="53" name="TextBox 20"/>
          <p:cNvSpPr txBox="1"/>
          <p:nvPr/>
        </p:nvSpPr>
        <p:spPr>
          <a:xfrm>
            <a:off x="8503919" y="228600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</a:rPr>
              <a:t>规范层</a:t>
            </a:r>
            <a:endParaRPr/>
          </a:p>
        </p:txBody>
      </p:sp>
      <p:sp>
        <p:nvSpPr>
          <p:cNvPr id="54" name="TextBox 21"/>
          <p:cNvSpPr txBox="1"/>
          <p:nvPr/>
        </p:nvSpPr>
        <p:spPr>
          <a:xfrm>
            <a:off x="8503919" y="278892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</a:rPr>
              <a:t>约定结构、命名与工作流（如 AGENTS.md），让 LLM 成为守纪律的维护者。</a:t>
            </a:r>
            <a:endParaRPr/>
          </a:p>
        </p:txBody>
      </p:sp>
      <p:sp>
        <p:nvSpPr>
          <p:cNvPr id="55" name="Rectangle 22"/>
          <p:cNvSpPr/>
          <p:nvPr/>
        </p:nvSpPr>
        <p:spPr>
          <a:xfrm>
            <a:off x="548640" y="4343400"/>
            <a:ext cx="11091672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23"/>
          <p:cNvSpPr/>
          <p:nvPr/>
        </p:nvSpPr>
        <p:spPr>
          <a:xfrm>
            <a:off x="548640" y="4343400"/>
            <a:ext cx="109728" cy="146304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24"/>
          <p:cNvSpPr txBox="1"/>
          <p:nvPr/>
        </p:nvSpPr>
        <p:spPr>
          <a:xfrm>
            <a:off x="868680" y="45262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Microsoft YaHei"/>
              </a:rPr>
              <a:t>核心理念：知识可"复利"</a:t>
            </a:r>
            <a:endParaRPr/>
          </a:p>
        </p:txBody>
      </p:sp>
      <p:sp>
        <p:nvSpPr>
          <p:cNvPr id="58" name="TextBox 25"/>
          <p:cNvSpPr txBox="1"/>
          <p:nvPr/>
        </p:nvSpPr>
        <p:spPr>
          <a:xfrm>
            <a:off x="868680" y="498348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32A33"/>
                </a:solidFill>
                <a:latin typeface="Microsoft YaHei"/>
              </a:rPr>
              <a:t>传统 RAG 每次提问都从头检索、无积累；LLM Wiki 由 LLM 增量构建并持续维护持久知识库——交叉引用已就位、矛盾已标注、综合已成型，越用越厚。适用于个人、研究、团队内部 wiki 与竞品分析。</a:t>
            </a:r>
            <a:endParaRPr/>
          </a:p>
        </p:txBody>
      </p:sp>
      <p:sp>
        <p:nvSpPr>
          <p:cNvPr id="59" name="TextBox 26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60" name="TextBox 27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11 / 17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1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2"/>
          <p:cNvSpPr txBox="1"/>
          <p:nvPr/>
        </p:nvSpPr>
        <p:spPr>
          <a:xfrm>
            <a:off x="777240" y="420624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Microsoft YaHei"/>
              </a:rPr>
              <a:t>问题与解决</a:t>
            </a:r>
            <a:endParaRPr/>
          </a:p>
        </p:txBody>
      </p:sp>
      <p:sp>
        <p:nvSpPr>
          <p:cNvPr id="64" name="TextBox 3"/>
          <p:cNvSpPr txBox="1"/>
          <p:nvPr/>
        </p:nvSpPr>
        <p:spPr>
          <a:xfrm>
            <a:off x="795528" y="1078992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6FB7"/>
                </a:solidFill>
                <a:latin typeface="Microsoft YaHei"/>
              </a:rPr>
              <a:t>ISSUES &amp; RESOLUTION</a:t>
            </a:r>
            <a:endParaRPr/>
          </a:p>
        </p:txBody>
      </p:sp>
      <p:sp>
        <p:nvSpPr>
          <p:cNvPr id="65" name="Rectangle 4"/>
          <p:cNvSpPr/>
          <p:nvPr/>
        </p:nvSpPr>
        <p:spPr>
          <a:xfrm>
            <a:off x="548640" y="1280160"/>
            <a:ext cx="11091672" cy="16459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5"/>
          <p:cNvSpPr/>
          <p:nvPr/>
        </p:nvSpPr>
        <p:spPr>
          <a:xfrm>
            <a:off x="548640" y="1691640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"/>
          <p:cNvSpPr/>
          <p:nvPr/>
        </p:nvSpPr>
        <p:spPr>
          <a:xfrm>
            <a:off x="548640" y="1691640"/>
            <a:ext cx="109728" cy="91440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7"/>
          <p:cNvSpPr txBox="1"/>
          <p:nvPr/>
        </p:nvSpPr>
        <p:spPr>
          <a:xfrm>
            <a:off x="868680" y="1801368"/>
            <a:ext cx="6675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7"/>
                </a:solidFill>
                <a:latin typeface="Microsoft YaHei"/>
              </a:rPr>
              <a:t>问题  </a:t>
            </a:r>
            <a:r>
              <a:rPr sz="1300" b="1">
                <a:solidFill>
                  <a:srgbClr val="1F3A5F"/>
                </a:solidFill>
                <a:latin typeface="Microsoft YaHei"/>
              </a:rPr>
              <a:t>Git 配置多次报错，Obsidian 无法实时上传</a:t>
            </a:r>
            <a:endParaRPr/>
          </a:p>
        </p:txBody>
      </p:sp>
      <p:sp>
        <p:nvSpPr>
          <p:cNvPr id="69" name="TextBox 8"/>
          <p:cNvSpPr txBox="1"/>
          <p:nvPr/>
        </p:nvSpPr>
        <p:spPr>
          <a:xfrm>
            <a:off x="7680960" y="1801368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8B57"/>
                </a:solidFill>
                <a:latin typeface="Microsoft YaHei"/>
              </a:rPr>
              <a:t>解决  </a:t>
            </a:r>
            <a:r>
              <a:rPr sz="1200" b="0">
                <a:solidFill>
                  <a:srgbClr val="232A33"/>
                </a:solidFill>
                <a:latin typeface="Microsoft YaHei"/>
              </a:rPr>
              <a:t>排查代理配置，修正后上传链路恢复。</a:t>
            </a:r>
            <a:endParaRPr/>
          </a:p>
        </p:txBody>
      </p:sp>
      <p:sp>
        <p:nvSpPr>
          <p:cNvPr id="70" name="Rectangle 9"/>
          <p:cNvSpPr/>
          <p:nvPr/>
        </p:nvSpPr>
        <p:spPr>
          <a:xfrm>
            <a:off x="548640" y="2770632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10"/>
          <p:cNvSpPr/>
          <p:nvPr/>
        </p:nvSpPr>
        <p:spPr>
          <a:xfrm>
            <a:off x="548640" y="2770632"/>
            <a:ext cx="10972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11"/>
          <p:cNvSpPr txBox="1"/>
          <p:nvPr/>
        </p:nvSpPr>
        <p:spPr>
          <a:xfrm>
            <a:off x="868680" y="2880360"/>
            <a:ext cx="6675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93B"/>
                </a:solidFill>
                <a:latin typeface="Microsoft YaHei"/>
              </a:rPr>
              <a:t>问题  </a:t>
            </a:r>
            <a:r>
              <a:rPr sz="1300" b="1">
                <a:solidFill>
                  <a:srgbClr val="1F3A5F"/>
                </a:solidFill>
                <a:latin typeface="Microsoft YaHei"/>
              </a:rPr>
              <a:t>Claude Code 下载失败</a:t>
            </a:r>
            <a:endParaRPr/>
          </a:p>
        </p:txBody>
      </p:sp>
      <p:sp>
        <p:nvSpPr>
          <p:cNvPr id="73" name="TextBox 12"/>
          <p:cNvSpPr txBox="1"/>
          <p:nvPr/>
        </p:nvSpPr>
        <p:spPr>
          <a:xfrm>
            <a:off x="7680960" y="2880360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8B57"/>
                </a:solidFill>
                <a:latin typeface="Microsoft YaHei"/>
              </a:rPr>
              <a:t>解决  </a:t>
            </a:r>
            <a:r>
              <a:rPr sz="1200" b="0">
                <a:solidFill>
                  <a:srgbClr val="232A33"/>
                </a:solidFill>
                <a:latin typeface="Microsoft YaHei"/>
              </a:rPr>
              <a:t>原因为旧进程未关闭，结束进程后下载成功。</a:t>
            </a:r>
            <a:endParaRPr/>
          </a:p>
        </p:txBody>
      </p:sp>
      <p:sp>
        <p:nvSpPr>
          <p:cNvPr id="74" name="Rectangle 13"/>
          <p:cNvSpPr/>
          <p:nvPr/>
        </p:nvSpPr>
        <p:spPr>
          <a:xfrm>
            <a:off x="548640" y="3849624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14"/>
          <p:cNvSpPr/>
          <p:nvPr/>
        </p:nvSpPr>
        <p:spPr>
          <a:xfrm>
            <a:off x="548640" y="3849624"/>
            <a:ext cx="109728" cy="914400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15"/>
          <p:cNvSpPr txBox="1"/>
          <p:nvPr/>
        </p:nvSpPr>
        <p:spPr>
          <a:xfrm>
            <a:off x="868680" y="3959352"/>
            <a:ext cx="6675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7"/>
                </a:solidFill>
                <a:latin typeface="Microsoft YaHei"/>
              </a:rPr>
              <a:t>问题  </a:t>
            </a:r>
            <a:r>
              <a:rPr sz="1300" b="1">
                <a:solidFill>
                  <a:srgbClr val="1F3A5F"/>
                </a:solidFill>
                <a:latin typeface="Microsoft YaHei"/>
              </a:rPr>
              <a:t>Agent 与 Workflow 边界模糊</a:t>
            </a:r>
            <a:endParaRPr/>
          </a:p>
        </p:txBody>
      </p:sp>
      <p:sp>
        <p:nvSpPr>
          <p:cNvPr id="77" name="TextBox 16"/>
          <p:cNvSpPr txBox="1"/>
          <p:nvPr/>
        </p:nvSpPr>
        <p:spPr>
          <a:xfrm>
            <a:off x="7680960" y="3959352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8B57"/>
                </a:solidFill>
                <a:latin typeface="Microsoft YaHei"/>
              </a:rPr>
              <a:t>解决  </a:t>
            </a:r>
            <a:r>
              <a:rPr sz="1200" b="0">
                <a:solidFill>
                  <a:srgbClr val="232A33"/>
                </a:solidFill>
                <a:latin typeface="Microsoft YaHei"/>
              </a:rPr>
              <a:t>查阅官方文档 + 实际调试，明确 Workflow 为执行载体、Agent 为其中智能组件，据此重构。</a:t>
            </a:r>
            <a:endParaRPr/>
          </a:p>
        </p:txBody>
      </p:sp>
      <p:sp>
        <p:nvSpPr>
          <p:cNvPr id="78" name="Rectangle 17"/>
          <p:cNvSpPr/>
          <p:nvPr/>
        </p:nvSpPr>
        <p:spPr>
          <a:xfrm>
            <a:off x="548640" y="4928616"/>
            <a:ext cx="11091672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18"/>
          <p:cNvSpPr/>
          <p:nvPr/>
        </p:nvSpPr>
        <p:spPr>
          <a:xfrm>
            <a:off x="548640" y="4928616"/>
            <a:ext cx="10972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19"/>
          <p:cNvSpPr txBox="1"/>
          <p:nvPr/>
        </p:nvSpPr>
        <p:spPr>
          <a:xfrm>
            <a:off x="868680" y="5038344"/>
            <a:ext cx="6675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93B"/>
                </a:solidFill>
                <a:latin typeface="Microsoft YaHei"/>
              </a:rPr>
              <a:t>问题  </a:t>
            </a:r>
            <a:r>
              <a:rPr sz="1300" b="1">
                <a:solidFill>
                  <a:srgbClr val="1F3A5F"/>
                </a:solidFill>
                <a:latin typeface="Microsoft YaHei"/>
              </a:rPr>
              <a:t>知识库结构初期零散</a:t>
            </a:r>
            <a:endParaRPr/>
          </a:p>
        </p:txBody>
      </p:sp>
      <p:sp>
        <p:nvSpPr>
          <p:cNvPr id="81" name="TextBox 20"/>
          <p:cNvSpPr txBox="1"/>
          <p:nvPr/>
        </p:nvSpPr>
        <p:spPr>
          <a:xfrm>
            <a:off x="7680960" y="5038344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8B57"/>
                </a:solidFill>
                <a:latin typeface="Microsoft YaHei"/>
              </a:rPr>
              <a:t>解决  </a:t>
            </a:r>
            <a:r>
              <a:rPr sz="1200" b="0">
                <a:solidFill>
                  <a:srgbClr val="232A33"/>
                </a:solidFill>
                <a:latin typeface="Microsoft YaHei"/>
              </a:rPr>
              <a:t>引入索引页与双链规范，按概念轴心组织语义网络。</a:t>
            </a:r>
            <a:endParaRPr/>
          </a:p>
        </p:txBody>
      </p:sp>
      <p:sp>
        <p:nvSpPr>
          <p:cNvPr id="82" name="TextBox 21"/>
          <p:cNvSpPr txBox="1"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第一周项目汇报 · AI 工具上手与 WorkBuddy 实践</a:t>
            </a:r>
            <a:endParaRPr/>
          </a:p>
        </p:txBody>
      </p:sp>
      <p:sp>
        <p:nvSpPr>
          <p:cNvPr id="83" name="TextBox 22"/>
          <p:cNvSpPr txBox="1"/>
          <p:nvPr/>
        </p:nvSpPr>
        <p:spPr>
          <a:xfrm>
            <a:off x="8503920" y="6437376"/>
            <a:ext cx="3136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</a:rPr>
              <a:t>12 / 17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2"/>
          <p:cNvSpPr/>
          <p:nvPr/>
        </p:nvSpPr>
        <p:spPr>
          <a:xfrm>
            <a:off x="-1097280" y="-1097280"/>
            <a:ext cx="3108960" cy="3108960"/>
          </a:xfrm>
          <a:prstGeom prst="ellipse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3"/>
          <p:cNvSpPr/>
          <p:nvPr/>
        </p:nvSpPr>
        <p:spPr>
          <a:xfrm>
            <a:off x="10424160" y="4754880"/>
            <a:ext cx="2743200" cy="2743200"/>
          </a:xfrm>
          <a:prstGeom prst="ellipse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F3A5F"/>
                </a:solidFill>
                <a:latin typeface="Microsoft YaHei"/>
              </a:rPr>
              <a:t>谢谢观看 · 欢迎讨论</a:t>
            </a:r>
            <a:endParaRPr/>
          </a:p>
        </p:txBody>
      </p:sp>
      <p:sp>
        <p:nvSpPr>
          <p:cNvPr id="89" name="Rectangle 5"/>
          <p:cNvSpPr/>
          <p:nvPr/>
        </p:nvSpPr>
        <p:spPr>
          <a:xfrm>
            <a:off x="4724247" y="3520440"/>
            <a:ext cx="2743200" cy="54864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6"/>
          <p:cNvSpPr txBox="1"/>
          <p:nvPr/>
        </p:nvSpPr>
        <p:spPr>
          <a:xfrm>
            <a:off x="0" y="384048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472"/>
                </a:solidFill>
                <a:latin typeface="Microsoft YaHei"/>
              </a:rPr>
              <a:t>第一周项目汇报  ·  AI 工具上手与 WorkBuddy 自动化实践</a:t>
            </a:r>
            <a:endParaRPr/>
          </a:p>
        </p:txBody>
      </p:sp>
      <p:sp>
        <p:nvSpPr>
          <p:cNvPr id="91" name="TextBox 7"/>
          <p:cNvSpPr txBox="1"/>
          <p:nvPr/>
        </p:nvSpPr>
        <p:spPr>
          <a:xfrm>
            <a:off x="0" y="4434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472"/>
                </a:solidFill>
                <a:latin typeface="Microsoft YaHei"/>
              </a:rPr>
              <a:t>汇报日期：2026/07/31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2026-08-01T00:43:09Z</dcterms:created>
  <dcterms:modified xsi:type="dcterms:W3CDTF">2026-08-01T00:43:09Z</dcterms:modified>
</cp:coreProperties>
</file>